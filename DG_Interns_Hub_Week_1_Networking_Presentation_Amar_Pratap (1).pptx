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DG Interns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Week 1: Networking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Cybersecurity Internship</a:t>
            </a:r>
            <a:br/>
            <a:r>
              <a:t>Submitted by: Amar Pratap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OSI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Seven-layer reference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7 Application — network services to applications</a:t>
            </a:r>
          </a:p>
          <a:p>
            <a:pPr>
              <a:spcAft>
                <a:spcPts val="900"/>
              </a:spcAft>
              <a:defRPr sz="1700"/>
            </a:pPr>
            <a:r>
              <a:t>6 Presentation — translation, encryption and compression</a:t>
            </a:r>
          </a:p>
          <a:p>
            <a:pPr>
              <a:spcAft>
                <a:spcPts val="900"/>
              </a:spcAft>
              <a:defRPr sz="1700"/>
            </a:pPr>
            <a:r>
              <a:t>5 Session — establishes and manages sessions</a:t>
            </a:r>
          </a:p>
          <a:p>
            <a:pPr>
              <a:spcAft>
                <a:spcPts val="900"/>
              </a:spcAft>
              <a:defRPr sz="1700"/>
            </a:pPr>
            <a:r>
              <a:t>4 Transport — end-to-end delivery (TCP/UDP)</a:t>
            </a:r>
          </a:p>
          <a:p>
            <a:pPr>
              <a:spcAft>
                <a:spcPts val="900"/>
              </a:spcAft>
              <a:defRPr sz="1700"/>
            </a:pPr>
            <a:r>
              <a:t>3 Network — IP addressing and routing</a:t>
            </a:r>
          </a:p>
          <a:p>
            <a:pPr>
              <a:spcAft>
                <a:spcPts val="900"/>
              </a:spcAft>
              <a:defRPr sz="1700"/>
            </a:pPr>
            <a:r>
              <a:t>2 Data Link — frames and MAC addresses</a:t>
            </a:r>
          </a:p>
          <a:p>
            <a:pPr>
              <a:spcAft>
                <a:spcPts val="900"/>
              </a:spcAft>
              <a:defRPr sz="1700"/>
            </a:pPr>
            <a:r>
              <a:t>1 Physical — bits, signals and media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TCP/IP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Four-layer practical protocol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Application — HTTP, HTTPS, FTP, DNS and other application protocols</a:t>
            </a:r>
          </a:p>
          <a:p>
            <a:pPr>
              <a:spcAft>
                <a:spcPts val="900"/>
              </a:spcAft>
              <a:defRPr sz="1700"/>
            </a:pPr>
            <a:r>
              <a:t>Transport — TCP and UDP</a:t>
            </a:r>
          </a:p>
          <a:p>
            <a:pPr>
              <a:spcAft>
                <a:spcPts val="900"/>
              </a:spcAft>
              <a:defRPr sz="1700"/>
            </a:pPr>
            <a:r>
              <a:t>Internet — IP and routing</a:t>
            </a:r>
          </a:p>
          <a:p>
            <a:pPr>
              <a:spcAft>
                <a:spcPts val="900"/>
              </a:spcAft>
              <a:defRPr sz="1700"/>
            </a:pPr>
            <a:r>
              <a:t>Network Access — Ethernet, Wi-Fi and local/physical delivery</a:t>
            </a:r>
          </a:p>
          <a:p>
            <a:pPr>
              <a:spcAft>
                <a:spcPts val="900"/>
              </a:spcAft>
              <a:defRPr sz="1700"/>
            </a:pPr>
            <a:r>
              <a:t>OSI mapping: Application/Presentation/Session → Application; Transport → Transport; Network → Internet; Data Link/Physical → Network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Network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t>HTTP — web communication</a:t>
            </a:r>
          </a:p>
          <a:p>
            <a:pPr>
              <a:spcAft>
                <a:spcPts val="900"/>
              </a:spcAft>
              <a:defRPr sz="2100"/>
            </a:pPr>
            <a:r>
              <a:t>HTTPS — secure web communication using TLS</a:t>
            </a:r>
          </a:p>
          <a:p>
            <a:pPr>
              <a:spcAft>
                <a:spcPts val="900"/>
              </a:spcAft>
              <a:defRPr sz="2100"/>
            </a:pPr>
            <a:r>
              <a:t>FTP — file transfer between client and server</a:t>
            </a:r>
          </a:p>
          <a:p>
            <a:pPr>
              <a:spcAft>
                <a:spcPts val="900"/>
              </a:spcAft>
              <a:defRPr sz="2100"/>
            </a:pPr>
            <a:r>
              <a:t>DNS — resolves domain names to IP addresses</a:t>
            </a:r>
          </a:p>
          <a:p>
            <a:pPr>
              <a:spcAft>
                <a:spcPts val="900"/>
              </a:spcAft>
              <a:defRPr sz="2100"/>
            </a:pPr>
            <a:r>
              <a:t>DHCP — automatically provides IP configuration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IP Addressing &amp; Subnetting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IPv4 uses 32 bits and is written as four decimal octets</a:t>
            </a:r>
          </a:p>
          <a:p>
            <a:pPr>
              <a:spcAft>
                <a:spcPts val="900"/>
              </a:spcAft>
              <a:defRPr sz="1700"/>
            </a:pPr>
            <a:r>
              <a:t>Private ranges: 10.0.0.0/8, 172.16.0.0/12, 192.168.0.0/16</a:t>
            </a:r>
          </a:p>
          <a:p>
            <a:pPr>
              <a:spcAft>
                <a:spcPts val="900"/>
              </a:spcAft>
              <a:defRPr sz="1700"/>
            </a:pPr>
            <a:r>
              <a:t>Public IPs are used for Internet-facing communication</a:t>
            </a:r>
          </a:p>
          <a:p>
            <a:pPr>
              <a:spcAft>
                <a:spcPts val="900"/>
              </a:spcAft>
              <a:defRPr sz="1700"/>
            </a:pPr>
            <a:r>
              <a:t>Example subnet: 192.168.1.0/24</a:t>
            </a:r>
          </a:p>
          <a:p>
            <a:pPr>
              <a:spcAft>
                <a:spcPts val="900"/>
              </a:spcAft>
              <a:defRPr sz="1700"/>
            </a:pPr>
            <a:r>
              <a:t>Network: 192.168.1.0 | Usable hosts: 192.168.1.1–192.168.1.254 | Broadcast: 192.168.1.255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Practical: Windows Network Commands</a:t>
            </a:r>
          </a:p>
        </p:txBody>
      </p:sp>
      <p:pic>
        <p:nvPicPr>
          <p:cNvPr id="3" name="Picture 2" descr="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303520" cy="2697480"/>
          </a:xfrm>
          <a:prstGeom prst="rect">
            <a:avLst/>
          </a:prstGeom>
        </p:spPr>
      </p:pic>
      <p:pic>
        <p:nvPicPr>
          <p:cNvPr id="4" name="Picture 3" descr="trac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325880"/>
            <a:ext cx="548640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ping google.com → 4 replies, 0% packet loss in the supplied evidence</a:t>
            </a:r>
          </a:p>
          <a:p>
            <a:pPr>
              <a:spcAft>
                <a:spcPts val="900"/>
              </a:spcAft>
              <a:defRPr sz="1400"/>
            </a:pPr>
            <a:r>
              <a:t>tracert google.com → multiple hops; some intermediate timeouts are visible</a:t>
            </a:r>
          </a:p>
          <a:p>
            <a:pPr>
              <a:spcAft>
                <a:spcPts val="900"/>
              </a:spcAft>
              <a:defRPr sz="1400"/>
            </a:pPr>
            <a:r>
              <a:t>ipconfig → run the command by itself on Windows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Practical: Cisco Packet Tracer</a:t>
            </a:r>
          </a:p>
        </p:txBody>
      </p:sp>
      <p:pic>
        <p:nvPicPr>
          <p:cNvPr id="3" name="Picture 2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740664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5087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Topology: PC → 2960 Switch → Cisco 1941 Router</a:t>
            </a:r>
          </a:p>
          <a:p>
            <a:pPr>
              <a:spcAft>
                <a:spcPts val="900"/>
              </a:spcAft>
              <a:defRPr sz="1600"/>
            </a:pPr>
            <a:r>
              <a:t>Connection: Copper Straight-Through</a:t>
            </a:r>
          </a:p>
          <a:p>
            <a:pPr>
              <a:spcAft>
                <a:spcPts val="900"/>
              </a:spcAft>
              <a:defRPr sz="1600"/>
            </a:pPr>
            <a:r>
              <a:t>PC: 192.168.1.10/24</a:t>
            </a:r>
          </a:p>
          <a:p>
            <a:pPr>
              <a:spcAft>
                <a:spcPts val="900"/>
              </a:spcAft>
              <a:defRPr sz="1600"/>
            </a:pPr>
            <a:r>
              <a:t>Router G0/0: 192.168.1.1/24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Configuration &amp; Learnings</a:t>
            </a:r>
          </a:p>
        </p:txBody>
      </p:sp>
      <p:pic>
        <p:nvPicPr>
          <p:cNvPr id="3" name="Picture 2" descr="pc_ip_configuration_red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212080" cy="4800600"/>
          </a:xfrm>
          <a:prstGeom prst="rect">
            <a:avLst/>
          </a:prstGeom>
        </p:spPr>
      </p:pic>
      <p:pic>
        <p:nvPicPr>
          <p:cNvPr id="4" name="Picture 3" descr="router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34440"/>
            <a:ext cx="566928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080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/>
            </a:pPr>
            <a:r>
              <a:t>PC and router IP addresses configured</a:t>
            </a:r>
          </a:p>
          <a:p>
            <a:pPr>
              <a:spcAft>
                <a:spcPts val="900"/>
              </a:spcAft>
              <a:defRPr sz="1100"/>
            </a:pPr>
            <a:r>
              <a:t>Router interface enabled with no shutdown</a:t>
            </a:r>
          </a:p>
          <a:p>
            <a:pPr>
              <a:spcAft>
                <a:spcPts val="900"/>
              </a:spcAft>
              <a:defRPr sz="1100"/>
            </a:pPr>
            <a:r>
              <a:t>Networking concepts practiced for cybersecurity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