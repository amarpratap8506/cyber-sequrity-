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47" d="100"/>
          <a:sy n="47" d="100"/>
        </p:scale>
        <p:origin x="1027" y="4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146304"/>
          </a:xfrm>
          <a:prstGeom prst="rect">
            <a:avLst/>
          </a:prstGeom>
          <a:solidFill>
            <a:srgbClr val="11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1234440"/>
            <a:ext cx="10515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12340"/>
                </a:solidFill>
              </a:defRPr>
            </a:pPr>
            <a:r>
              <a:t>DG Interns Hub</a:t>
            </a:r>
          </a:p>
          <a:p>
            <a:pPr>
              <a:defRPr sz="2800" b="1">
                <a:solidFill>
                  <a:srgbClr val="265C8C"/>
                </a:solidFill>
              </a:defRPr>
            </a:pPr>
            <a:r>
              <a:t>Cybersecurity Internship – Week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971800"/>
            <a:ext cx="6130846" cy="6771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232A32"/>
                </a:solidFill>
              </a:defRPr>
            </a:pPr>
            <a:r>
              <a:rPr dirty="0"/>
              <a:t>Advanced Networking, Analysis &amp; Security Concepts</a:t>
            </a:r>
          </a:p>
          <a:p>
            <a:pPr>
              <a:defRPr sz="1600">
                <a:solidFill>
                  <a:srgbClr val="5A6774"/>
                </a:solidFill>
              </a:defRPr>
            </a:pPr>
            <a:r>
              <a:rPr b="1" dirty="0"/>
              <a:t>Prepared by: Amar Pratap 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A6774"/>
                </a:solidFill>
              </a:defRPr>
            </a:pPr>
            <a:r>
              <a:t>DG Interns Hub • Cybersecurity Internship • Week 2                                      1/10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146304"/>
          </a:xfrm>
          <a:prstGeom prst="rect">
            <a:avLst/>
          </a:prstGeom>
          <a:solidFill>
            <a:srgbClr val="11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12340"/>
                </a:solidFill>
                <a:latin typeface="Aptos Display"/>
              </a:defRPr>
            </a:pPr>
            <a:r>
              <a:t>Topics Covered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59536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A6774"/>
                </a:solidFill>
                <a:latin typeface="Aptos"/>
              </a:defRPr>
            </a:pPr>
            <a:r>
              <a:t>Theory + practical work completed during Week 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25880"/>
            <a:ext cx="3474720" cy="1417320"/>
          </a:xfrm>
          <a:prstGeom prst="roundRect">
            <a:avLst/>
          </a:prstGeom>
          <a:solidFill>
            <a:srgbClr val="F1F6FA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41247" y="1490472"/>
            <a:ext cx="3072384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265C8C"/>
                </a:solidFill>
              </a:defRPr>
            </a:pPr>
            <a:r>
              <a:t>Ports &amp; Services</a:t>
            </a:r>
          </a:p>
          <a:p>
            <a:pPr>
              <a:defRPr sz="1300">
                <a:solidFill>
                  <a:srgbClr val="232A32"/>
                </a:solidFill>
              </a:defRPr>
            </a:pPr>
            <a:r>
              <a:t>Common TCP/UDP ports and their real-world uses.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325880"/>
            <a:ext cx="3474720" cy="1417320"/>
          </a:xfrm>
          <a:prstGeom prst="roundRect">
            <a:avLst/>
          </a:prstGeom>
          <a:solidFill>
            <a:srgbClr val="F1F6FA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44568" y="1490472"/>
            <a:ext cx="3072384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265C8C"/>
                </a:solidFill>
              </a:defRPr>
            </a:pPr>
            <a:r>
              <a:t>Network Devices</a:t>
            </a:r>
          </a:p>
          <a:p>
            <a:pPr>
              <a:defRPr sz="1300">
                <a:solidFill>
                  <a:srgbClr val="232A32"/>
                </a:solidFill>
              </a:defRPr>
            </a:pPr>
            <a:r>
              <a:t>Router, Switch and Firewall — working and differences.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325880"/>
            <a:ext cx="3474720" cy="1417320"/>
          </a:xfrm>
          <a:prstGeom prst="roundRect">
            <a:avLst/>
          </a:prstGeom>
          <a:solidFill>
            <a:srgbClr val="F1F6FA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47888" y="1490472"/>
            <a:ext cx="3072384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265C8C"/>
                </a:solidFill>
              </a:defRPr>
            </a:pPr>
            <a:r>
              <a:t>Security Concepts</a:t>
            </a:r>
          </a:p>
          <a:p>
            <a:pPr>
              <a:defRPr sz="1300">
                <a:solidFill>
                  <a:srgbClr val="232A32"/>
                </a:solidFill>
              </a:defRPr>
            </a:pPr>
            <a:r>
              <a:t>Network Security, MITM, DoS and Packet Sniffing.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063240"/>
            <a:ext cx="3474720" cy="1417320"/>
          </a:xfrm>
          <a:prstGeom prst="roundRect">
            <a:avLst/>
          </a:prstGeom>
          <a:solidFill>
            <a:srgbClr val="F1F6FA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41247" y="3227832"/>
            <a:ext cx="3072384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265C8C"/>
                </a:solidFill>
              </a:defRPr>
            </a:pPr>
            <a:r>
              <a:t>Wireshark</a:t>
            </a:r>
          </a:p>
          <a:p>
            <a:pPr>
              <a:defRPr sz="1300">
                <a:solidFill>
                  <a:srgbClr val="232A32"/>
                </a:solidFill>
              </a:defRPr>
            </a:pPr>
            <a:r>
              <a:t>DNS and TLS/HTTPS traffic analysis.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3400" y="3063240"/>
            <a:ext cx="3474720" cy="1417320"/>
          </a:xfrm>
          <a:prstGeom prst="roundRect">
            <a:avLst/>
          </a:prstGeom>
          <a:solidFill>
            <a:srgbClr val="F1F6FA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44568" y="3227832"/>
            <a:ext cx="3072384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265C8C"/>
                </a:solidFill>
              </a:defRPr>
            </a:pPr>
            <a:r>
              <a:t>Nmap</a:t>
            </a:r>
          </a:p>
          <a:p>
            <a:pPr>
              <a:defRPr sz="1300">
                <a:solidFill>
                  <a:srgbClr val="232A32"/>
                </a:solidFill>
              </a:defRPr>
            </a:pPr>
            <a:r>
              <a:t>Authorized scanning and service/version detection.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3063240"/>
            <a:ext cx="3474720" cy="1417320"/>
          </a:xfrm>
          <a:prstGeom prst="roundRect">
            <a:avLst/>
          </a:prstGeom>
          <a:solidFill>
            <a:srgbClr val="F1F6FA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47888" y="3227832"/>
            <a:ext cx="3072384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265C8C"/>
                </a:solidFill>
              </a:defRPr>
            </a:pPr>
            <a:r>
              <a:t>Packet Tracer</a:t>
            </a:r>
          </a:p>
          <a:p>
            <a:pPr>
              <a:defRPr sz="1300">
                <a:solidFill>
                  <a:srgbClr val="232A32"/>
                </a:solidFill>
              </a:defRPr>
            </a:pPr>
            <a:r>
              <a:t>LAN topology and connectivity testing.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A6774"/>
                </a:solidFill>
              </a:defRPr>
            </a:pPr>
            <a:r>
              <a:t>DG Interns Hub • Cybersecurity Internship • Week 2                                      2/10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146304"/>
          </a:xfrm>
          <a:prstGeom prst="rect">
            <a:avLst/>
          </a:prstGeom>
          <a:solidFill>
            <a:srgbClr val="11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12340"/>
                </a:solidFill>
                <a:latin typeface="Aptos Display"/>
              </a:defRPr>
            </a:pPr>
            <a:r>
              <a:t>Networking Devices &amp; Security Basics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234440"/>
            <a:ext cx="3520440" cy="1828800"/>
          </a:xfrm>
          <a:prstGeom prst="roundRect">
            <a:avLst/>
          </a:prstGeom>
          <a:solidFill>
            <a:srgbClr val="F1F6FA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41247" y="1399032"/>
            <a:ext cx="3118104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265C8C"/>
                </a:solidFill>
              </a:defRPr>
            </a:pPr>
            <a:r>
              <a:t>Router</a:t>
            </a:r>
          </a:p>
          <a:p>
            <a:pPr>
              <a:defRPr sz="1300">
                <a:solidFill>
                  <a:srgbClr val="232A32"/>
                </a:solidFill>
              </a:defRPr>
            </a:pPr>
            <a:r>
              <a:t>Connects different networks and forwards packets using IP-based routing information.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1234440"/>
            <a:ext cx="3520440" cy="1828800"/>
          </a:xfrm>
          <a:prstGeom prst="roundRect">
            <a:avLst/>
          </a:prstGeom>
          <a:solidFill>
            <a:srgbClr val="F1F6FA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44568" y="1399032"/>
            <a:ext cx="3118104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265C8C"/>
                </a:solidFill>
              </a:defRPr>
            </a:pPr>
            <a:r>
              <a:t>Switch</a:t>
            </a:r>
          </a:p>
          <a:p>
            <a:pPr>
              <a:defRPr sz="1300">
                <a:solidFill>
                  <a:srgbClr val="232A32"/>
                </a:solidFill>
              </a:defRPr>
            </a:pPr>
            <a:r>
              <a:t>Connects devices in a LAN and forwards Ethernet frames using MAC-address information.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234440"/>
            <a:ext cx="3520440" cy="1828800"/>
          </a:xfrm>
          <a:prstGeom prst="roundRect">
            <a:avLst/>
          </a:prstGeom>
          <a:solidFill>
            <a:srgbClr val="F1F6FA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47888" y="1399032"/>
            <a:ext cx="3118104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265C8C"/>
                </a:solidFill>
              </a:defRPr>
            </a:pPr>
            <a:r>
              <a:t>Firewall</a:t>
            </a:r>
          </a:p>
          <a:p>
            <a:pPr>
              <a:defRPr sz="1300">
                <a:solidFill>
                  <a:srgbClr val="232A32"/>
                </a:solidFill>
              </a:defRPr>
            </a:pPr>
            <a:r>
              <a:t>Applies traffic-control rules to allow legitimate communication and block unauthorized traffic.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429000"/>
            <a:ext cx="3520440" cy="1828800"/>
          </a:xfrm>
          <a:prstGeom prst="roundRect">
            <a:avLst/>
          </a:prstGeom>
          <a:solidFill>
            <a:srgbClr val="F1F6FA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41247" y="3593592"/>
            <a:ext cx="3118104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265C8C"/>
                </a:solidFill>
              </a:defRPr>
            </a:pPr>
            <a:r>
              <a:t>MITM</a:t>
            </a:r>
          </a:p>
          <a:p>
            <a:pPr>
              <a:defRPr sz="1300">
                <a:solidFill>
                  <a:srgbClr val="232A32"/>
                </a:solidFill>
              </a:defRPr>
            </a:pPr>
            <a:r>
              <a:t>Attacker conceptually positions between communicating parties. Prevention: HTTPS/TLS, VPN and secure networks.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3429000"/>
            <a:ext cx="3520440" cy="1828800"/>
          </a:xfrm>
          <a:prstGeom prst="roundRect">
            <a:avLst/>
          </a:prstGeom>
          <a:solidFill>
            <a:srgbClr val="F1F6FA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44568" y="3593592"/>
            <a:ext cx="3118104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265C8C"/>
                </a:solidFill>
              </a:defRPr>
            </a:pPr>
            <a:r>
              <a:t>DoS</a:t>
            </a:r>
          </a:p>
          <a:p>
            <a:pPr>
              <a:defRPr sz="1300">
                <a:solidFill>
                  <a:srgbClr val="232A32"/>
                </a:solidFill>
              </a:defRPr>
            </a:pPr>
            <a:r>
              <a:t>Attempts to make a service unavailable. Defenses include filtering, rate limiting and monitoring.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3429000"/>
            <a:ext cx="3520440" cy="1828800"/>
          </a:xfrm>
          <a:prstGeom prst="roundRect">
            <a:avLst/>
          </a:prstGeom>
          <a:solidFill>
            <a:srgbClr val="F1F6FA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47888" y="3593592"/>
            <a:ext cx="3118104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265C8C"/>
                </a:solidFill>
              </a:defRPr>
            </a:pPr>
            <a:r>
              <a:t>Packet Sniffing</a:t>
            </a:r>
          </a:p>
          <a:p>
            <a:pPr>
              <a:defRPr sz="1300">
                <a:solidFill>
                  <a:srgbClr val="232A32"/>
                </a:solidFill>
              </a:defRPr>
            </a:pPr>
            <a:r>
              <a:t>Capturing/analyzing packets for troubleshooting or security analysis; encryption reduces exposure.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A6774"/>
                </a:solidFill>
              </a:defRPr>
            </a:pPr>
            <a:r>
              <a:t>DG Interns Hub • Cybersecurity Internship • Week 2                                      3/10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94360" y="320040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12340"/>
                </a:solidFill>
                <a:latin typeface="Aptos Display"/>
              </a:defRPr>
            </a:pPr>
            <a:r>
              <a:t>Ports &amp; Services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59536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A6774"/>
                </a:solidFill>
                <a:latin typeface="Aptos"/>
              </a:defRPr>
            </a:pPr>
            <a:r>
              <a:t>Examples of commonly used network ports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A6774"/>
                </a:solidFill>
              </a:defRPr>
            </a:pPr>
            <a:r>
              <a:t>DG Interns Hub • Cybersecurity Internship • Week 2                                      4/10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94360" y="1234440"/>
            <a:ext cx="3520440" cy="713232"/>
          </a:xfrm>
          <a:prstGeom prst="roundRect">
            <a:avLst/>
          </a:prstGeom>
          <a:solidFill>
            <a:srgbClr val="F1F6FA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58952" y="1298448"/>
            <a:ext cx="3191256" cy="6035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265C8C"/>
                </a:solidFill>
              </a:defRPr>
            </a:pPr>
            <a:r>
              <a:t>20/21 • TCP • FTP</a:t>
            </a:r>
          </a:p>
          <a:p>
            <a:pPr>
              <a:defRPr sz="1050">
                <a:solidFill>
                  <a:srgbClr val="232A32"/>
                </a:solidFill>
              </a:defRPr>
            </a:pPr>
            <a:r>
              <a:t>File transfer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434840" y="1234440"/>
            <a:ext cx="3520440" cy="713232"/>
          </a:xfrm>
          <a:prstGeom prst="roundRect">
            <a:avLst/>
          </a:prstGeom>
          <a:solidFill>
            <a:srgbClr val="F1F6FA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4599432" y="1298448"/>
            <a:ext cx="3191256" cy="6035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265C8C"/>
                </a:solidFill>
              </a:defRPr>
            </a:pPr>
            <a:r>
              <a:t>22 • TCP • SSH</a:t>
            </a:r>
          </a:p>
          <a:p>
            <a:pPr>
              <a:defRPr sz="1050">
                <a:solidFill>
                  <a:srgbClr val="232A32"/>
                </a:solidFill>
              </a:defRPr>
            </a:pPr>
            <a:r>
              <a:t>Secure remote login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275320" y="1234440"/>
            <a:ext cx="3520440" cy="713232"/>
          </a:xfrm>
          <a:prstGeom prst="roundRect">
            <a:avLst/>
          </a:prstGeom>
          <a:solidFill>
            <a:srgbClr val="F1F6FA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8439912" y="1298448"/>
            <a:ext cx="3191256" cy="6035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265C8C"/>
                </a:solidFill>
              </a:defRPr>
            </a:pPr>
            <a:r>
              <a:t>23 • TCP • Telnet</a:t>
            </a:r>
          </a:p>
          <a:p>
            <a:pPr>
              <a:defRPr sz="1050">
                <a:solidFill>
                  <a:srgbClr val="232A32"/>
                </a:solidFill>
              </a:defRPr>
            </a:pPr>
            <a:r>
              <a:t>Remote login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94360" y="2084832"/>
            <a:ext cx="3520440" cy="713232"/>
          </a:xfrm>
          <a:prstGeom prst="roundRect">
            <a:avLst/>
          </a:prstGeom>
          <a:solidFill>
            <a:srgbClr val="F1F6FA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758952" y="2148840"/>
            <a:ext cx="3191256" cy="6035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265C8C"/>
                </a:solidFill>
              </a:defRPr>
            </a:pPr>
            <a:r>
              <a:t>25 • TCP • SMTP</a:t>
            </a:r>
          </a:p>
          <a:p>
            <a:pPr>
              <a:defRPr sz="1050">
                <a:solidFill>
                  <a:srgbClr val="232A32"/>
                </a:solidFill>
              </a:defRPr>
            </a:pPr>
            <a:r>
              <a:t>Email sending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434840" y="2084832"/>
            <a:ext cx="3520440" cy="713232"/>
          </a:xfrm>
          <a:prstGeom prst="roundRect">
            <a:avLst/>
          </a:prstGeom>
          <a:solidFill>
            <a:srgbClr val="F1F6FA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4599432" y="2148840"/>
            <a:ext cx="3191256" cy="6035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265C8C"/>
                </a:solidFill>
              </a:defRPr>
            </a:pPr>
            <a:r>
              <a:t>53 • TCP/UDP • DNS</a:t>
            </a:r>
          </a:p>
          <a:p>
            <a:pPr>
              <a:defRPr sz="1050">
                <a:solidFill>
                  <a:srgbClr val="232A32"/>
                </a:solidFill>
              </a:defRPr>
            </a:pPr>
            <a:r>
              <a:t>Domain resolution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275320" y="2084832"/>
            <a:ext cx="3520440" cy="713232"/>
          </a:xfrm>
          <a:prstGeom prst="roundRect">
            <a:avLst/>
          </a:prstGeom>
          <a:solidFill>
            <a:srgbClr val="F1F6FA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8439912" y="2148840"/>
            <a:ext cx="3191256" cy="6035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265C8C"/>
                </a:solidFill>
              </a:defRPr>
            </a:pPr>
            <a:r>
              <a:t>67/68 • UDP • DHCP</a:t>
            </a:r>
          </a:p>
          <a:p>
            <a:pPr>
              <a:defRPr sz="1050">
                <a:solidFill>
                  <a:srgbClr val="232A32"/>
                </a:solidFill>
              </a:defRPr>
            </a:pPr>
            <a:r>
              <a:t>IP configuration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94360" y="2935224"/>
            <a:ext cx="3520440" cy="713232"/>
          </a:xfrm>
          <a:prstGeom prst="roundRect">
            <a:avLst/>
          </a:prstGeom>
          <a:solidFill>
            <a:srgbClr val="F1F6FA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758952" y="2999232"/>
            <a:ext cx="3191256" cy="6035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265C8C"/>
                </a:solidFill>
              </a:defRPr>
            </a:pPr>
            <a:r>
              <a:t>80 • TCP • HTTP</a:t>
            </a:r>
          </a:p>
          <a:p>
            <a:pPr>
              <a:defRPr sz="1050">
                <a:solidFill>
                  <a:srgbClr val="232A32"/>
                </a:solidFill>
              </a:defRPr>
            </a:pPr>
            <a:r>
              <a:t>Web traffic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4434840" y="2935224"/>
            <a:ext cx="3520440" cy="713232"/>
          </a:xfrm>
          <a:prstGeom prst="roundRect">
            <a:avLst/>
          </a:prstGeom>
          <a:solidFill>
            <a:srgbClr val="F1F6FA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4599432" y="2999232"/>
            <a:ext cx="3191256" cy="6035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265C8C"/>
                </a:solidFill>
              </a:defRPr>
            </a:pPr>
            <a:r>
              <a:t>110 • TCP • POP3</a:t>
            </a:r>
          </a:p>
          <a:p>
            <a:pPr>
              <a:defRPr sz="1050">
                <a:solidFill>
                  <a:srgbClr val="232A32"/>
                </a:solidFill>
              </a:defRPr>
            </a:pPr>
            <a:r>
              <a:t>Email retrieval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275320" y="2935224"/>
            <a:ext cx="3520440" cy="713232"/>
          </a:xfrm>
          <a:prstGeom prst="roundRect">
            <a:avLst/>
          </a:prstGeom>
          <a:solidFill>
            <a:srgbClr val="F1F6FA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8439912" y="2999232"/>
            <a:ext cx="3191256" cy="6035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265C8C"/>
                </a:solidFill>
              </a:defRPr>
            </a:pPr>
            <a:r>
              <a:t>123 • UDP • NTP</a:t>
            </a:r>
          </a:p>
          <a:p>
            <a:pPr>
              <a:defRPr sz="1050">
                <a:solidFill>
                  <a:srgbClr val="232A32"/>
                </a:solidFill>
              </a:defRPr>
            </a:pPr>
            <a:r>
              <a:t>Time synchronization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594360" y="3785616"/>
            <a:ext cx="3520440" cy="713232"/>
          </a:xfrm>
          <a:prstGeom prst="roundRect">
            <a:avLst/>
          </a:prstGeom>
          <a:solidFill>
            <a:srgbClr val="F1F6FA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758952" y="3849624"/>
            <a:ext cx="3191256" cy="6035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265C8C"/>
                </a:solidFill>
              </a:defRPr>
            </a:pPr>
            <a:r>
              <a:t>143 • TCP • IMAP</a:t>
            </a:r>
          </a:p>
          <a:p>
            <a:pPr>
              <a:defRPr sz="1050">
                <a:solidFill>
                  <a:srgbClr val="232A32"/>
                </a:solidFill>
              </a:defRPr>
            </a:pPr>
            <a:r>
              <a:t>Email retrieval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4434840" y="3785616"/>
            <a:ext cx="3520440" cy="713232"/>
          </a:xfrm>
          <a:prstGeom prst="roundRect">
            <a:avLst/>
          </a:prstGeom>
          <a:solidFill>
            <a:srgbClr val="F1F6FA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4599432" y="3849624"/>
            <a:ext cx="3191256" cy="6035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265C8C"/>
                </a:solidFill>
              </a:defRPr>
            </a:pPr>
            <a:r>
              <a:t>161 • UDP • SNMP</a:t>
            </a:r>
          </a:p>
          <a:p>
            <a:pPr>
              <a:defRPr sz="1050">
                <a:solidFill>
                  <a:srgbClr val="232A32"/>
                </a:solidFill>
              </a:defRPr>
            </a:pPr>
            <a:r>
              <a:t>Network management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8275320" y="3785616"/>
            <a:ext cx="3520440" cy="713232"/>
          </a:xfrm>
          <a:prstGeom prst="roundRect">
            <a:avLst/>
          </a:prstGeom>
          <a:solidFill>
            <a:srgbClr val="F1F6FA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8439912" y="3849624"/>
            <a:ext cx="3191256" cy="6035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265C8C"/>
                </a:solidFill>
              </a:defRPr>
            </a:pPr>
            <a:r>
              <a:t>389 • TCP/UDP • LDAP</a:t>
            </a:r>
          </a:p>
          <a:p>
            <a:pPr>
              <a:defRPr sz="1050">
                <a:solidFill>
                  <a:srgbClr val="232A32"/>
                </a:solidFill>
              </a:defRPr>
            </a:pPr>
            <a:r>
              <a:t>Directory services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594360" y="4636008"/>
            <a:ext cx="3520440" cy="713232"/>
          </a:xfrm>
          <a:prstGeom prst="roundRect">
            <a:avLst/>
          </a:prstGeom>
          <a:solidFill>
            <a:srgbClr val="F1F6FA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758952" y="4700016"/>
            <a:ext cx="3191256" cy="6035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265C8C"/>
                </a:solidFill>
              </a:defRPr>
            </a:pPr>
            <a:r>
              <a:t>443 • TCP • HTTPS</a:t>
            </a:r>
          </a:p>
          <a:p>
            <a:pPr>
              <a:defRPr sz="1050">
                <a:solidFill>
                  <a:srgbClr val="232A32"/>
                </a:solidFill>
              </a:defRPr>
            </a:pPr>
            <a:r>
              <a:t>Secure web traffic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4434840" y="4636008"/>
            <a:ext cx="3520440" cy="713232"/>
          </a:xfrm>
          <a:prstGeom prst="roundRect">
            <a:avLst/>
          </a:prstGeom>
          <a:solidFill>
            <a:srgbClr val="F1F6FA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4599432" y="4700016"/>
            <a:ext cx="3191256" cy="6035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265C8C"/>
                </a:solidFill>
              </a:defRPr>
            </a:pPr>
            <a:r>
              <a:t>445 • TCP • SMB</a:t>
            </a:r>
          </a:p>
          <a:p>
            <a:pPr>
              <a:defRPr sz="1050">
                <a:solidFill>
                  <a:srgbClr val="232A32"/>
                </a:solidFill>
              </a:defRPr>
            </a:pPr>
            <a:r>
              <a:t>File/printer sharing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8275320" y="4636008"/>
            <a:ext cx="3520440" cy="713232"/>
          </a:xfrm>
          <a:prstGeom prst="roundRect">
            <a:avLst/>
          </a:prstGeom>
          <a:solidFill>
            <a:srgbClr val="F1F6FA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8439912" y="4700016"/>
            <a:ext cx="3191256" cy="6035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265C8C"/>
                </a:solidFill>
              </a:defRPr>
            </a:pPr>
            <a:r>
              <a:t>3389 • TCP • RDP</a:t>
            </a:r>
          </a:p>
          <a:p>
            <a:pPr>
              <a:defRPr sz="1050">
                <a:solidFill>
                  <a:srgbClr val="232A32"/>
                </a:solidFill>
              </a:defRPr>
            </a:pPr>
            <a:r>
              <a:t>Remote Desktop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A6774"/>
                </a:solidFill>
              </a:defRPr>
            </a:pPr>
            <a:r>
              <a:t>DG Interns Hub • Cybersecurity Internship • Week 2                                      4/10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146304"/>
          </a:xfrm>
          <a:prstGeom prst="rect">
            <a:avLst/>
          </a:prstGeom>
          <a:solidFill>
            <a:srgbClr val="11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12340"/>
                </a:solidFill>
                <a:latin typeface="Aptos Display"/>
              </a:defRPr>
            </a:pPr>
            <a:r>
              <a:t>Wireshark – DNS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59536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A6774"/>
                </a:solidFill>
                <a:latin typeface="Aptos"/>
              </a:defRPr>
            </a:pPr>
            <a:r>
              <a:t>Screenshot from the user's own packet capture</a:t>
            </a:r>
          </a:p>
        </p:txBody>
      </p:sp>
      <p:pic>
        <p:nvPicPr>
          <p:cNvPr id="5" name="Picture 4" descr="caa6f877-6604-436c-8082-b6594e9b2cb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9217" y="1234440"/>
            <a:ext cx="5874085" cy="489204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366760" y="1417320"/>
            <a:ext cx="3200400" cy="1417320"/>
          </a:xfrm>
          <a:prstGeom prst="roundRect">
            <a:avLst/>
          </a:prstGeom>
          <a:solidFill>
            <a:srgbClr val="F1F6FA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567928" y="1581912"/>
            <a:ext cx="2798064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265C8C"/>
                </a:solidFill>
              </a:defRPr>
            </a:pPr>
            <a:r>
              <a:t>Filter Used</a:t>
            </a:r>
          </a:p>
          <a:p>
            <a:pPr>
              <a:defRPr sz="1300">
                <a:solidFill>
                  <a:srgbClr val="232A32"/>
                </a:solidFill>
              </a:defRPr>
            </a:pPr>
            <a:r>
              <a:t>dns</a:t>
            </a:r>
            <a:br/>
            <a:r>
              <a:t>The capture displays DNS queries and responses.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366760" y="3063240"/>
            <a:ext cx="3200400" cy="1417320"/>
          </a:xfrm>
          <a:prstGeom prst="roundRect">
            <a:avLst/>
          </a:prstGeom>
          <a:solidFill>
            <a:srgbClr val="F1F6FA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567928" y="3227832"/>
            <a:ext cx="2798064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265C8C"/>
                </a:solidFill>
              </a:defRPr>
            </a:pPr>
            <a:r>
              <a:t>Observed</a:t>
            </a:r>
          </a:p>
          <a:p>
            <a:pPr>
              <a:defRPr sz="1300">
                <a:solidFill>
                  <a:srgbClr val="232A32"/>
                </a:solidFill>
              </a:defRPr>
            </a:pPr>
            <a:r>
              <a:t>Source: 192.168.1.7</a:t>
            </a:r>
            <a:br/>
            <a:r>
              <a:t>DNS server: 192.168.1.1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366760" y="4709160"/>
            <a:ext cx="3200400" cy="960120"/>
          </a:xfrm>
          <a:prstGeom prst="roundRect">
            <a:avLst/>
          </a:prstGeom>
          <a:solidFill>
            <a:srgbClr val="F1F6FA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567928" y="4873752"/>
            <a:ext cx="279806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265C8C"/>
                </a:solidFill>
              </a:defRPr>
            </a:pPr>
            <a:r>
              <a:t>Examples</a:t>
            </a:r>
          </a:p>
          <a:p>
            <a:pPr>
              <a:defRPr sz="1300">
                <a:solidFill>
                  <a:srgbClr val="232A32"/>
                </a:solidFill>
              </a:defRPr>
            </a:pPr>
            <a:r>
              <a:t>web.whatsapp.com</a:t>
            </a:r>
            <a:br/>
            <a:r>
              <a:t>chatgpt.com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A6774"/>
                </a:solidFill>
              </a:defRPr>
            </a:pPr>
            <a:r>
              <a:t>DG Interns Hub • Cybersecurity Internship • Week 2                                      5/10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146304"/>
          </a:xfrm>
          <a:prstGeom prst="rect">
            <a:avLst/>
          </a:prstGeom>
          <a:solidFill>
            <a:srgbClr val="11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12340"/>
                </a:solidFill>
                <a:latin typeface="Aptos Display"/>
              </a:defRPr>
            </a:pPr>
            <a:r>
              <a:t>Wireshark – TLS/HTTPS Traffic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59536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A6774"/>
                </a:solidFill>
                <a:latin typeface="Aptos"/>
              </a:defRPr>
            </a:pPr>
            <a:r>
              <a:t>Encrypted web traffic observed in the capture</a:t>
            </a:r>
          </a:p>
        </p:txBody>
      </p:sp>
      <p:pic>
        <p:nvPicPr>
          <p:cNvPr id="5" name="Picture 4" descr="383eb6e9-4eea-49b4-acb3-d67b9a0c499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7977" y="1234440"/>
            <a:ext cx="5116564" cy="425196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366760" y="1417320"/>
            <a:ext cx="3200400" cy="1325880"/>
          </a:xfrm>
          <a:prstGeom prst="roundRect">
            <a:avLst/>
          </a:prstGeom>
          <a:solidFill>
            <a:srgbClr val="F1F6FA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567928" y="1581912"/>
            <a:ext cx="2798064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265C8C"/>
                </a:solidFill>
              </a:defRPr>
            </a:pPr>
            <a:r>
              <a:t>Filter Used</a:t>
            </a:r>
          </a:p>
          <a:p>
            <a:pPr>
              <a:defRPr sz="1300">
                <a:solidFill>
                  <a:srgbClr val="232A32"/>
                </a:solidFill>
              </a:defRPr>
            </a:pPr>
            <a:r>
              <a:t>tls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366760" y="2971800"/>
            <a:ext cx="3200400" cy="1554480"/>
          </a:xfrm>
          <a:prstGeom prst="roundRect">
            <a:avLst/>
          </a:prstGeom>
          <a:solidFill>
            <a:srgbClr val="F1F6FA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567928" y="3136392"/>
            <a:ext cx="2798064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265C8C"/>
                </a:solidFill>
              </a:defRPr>
            </a:pPr>
            <a:r>
              <a:t>Packet Details</a:t>
            </a:r>
          </a:p>
          <a:p>
            <a:pPr>
              <a:defRPr sz="1300">
                <a:solidFill>
                  <a:srgbClr val="232A32"/>
                </a:solidFill>
              </a:defRPr>
            </a:pPr>
            <a:r>
              <a:t>Source: 192.168.1.7</a:t>
            </a:r>
            <a:br/>
            <a:r>
              <a:t>Destination: 130.211.32.14</a:t>
            </a:r>
            <a:br/>
            <a:r>
              <a:t>Destination port: 443</a:t>
            </a:r>
          </a:p>
        </p:txBody>
      </p:sp>
      <p:pic>
        <p:nvPicPr>
          <p:cNvPr id="10" name="Picture 9" descr="234ed2a8-81dd-4a89-8a9e-4e096a58f81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79249" y="4709160"/>
            <a:ext cx="1375420" cy="114299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A6774"/>
                </a:solidFill>
              </a:defRPr>
            </a:pPr>
            <a:r>
              <a:t>DG Interns Hub • Cybersecurity Internship • Week 2                                      6/10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146304"/>
          </a:xfrm>
          <a:prstGeom prst="rect">
            <a:avLst/>
          </a:prstGeom>
          <a:solidFill>
            <a:srgbClr val="11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12340"/>
                </a:solidFill>
                <a:latin typeface="Aptos Display"/>
              </a:defRPr>
            </a:pPr>
            <a:r>
              <a:t>Nmap – Basic Scan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59536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A6774"/>
                </a:solidFill>
                <a:latin typeface="Aptos"/>
              </a:defRPr>
            </a:pPr>
            <a:r>
              <a:t>Authorized practice target: scanme.nmap.org</a:t>
            </a:r>
          </a:p>
        </p:txBody>
      </p:sp>
      <p:pic>
        <p:nvPicPr>
          <p:cNvPr id="5" name="Picture 4" descr="f6033a9b-13fa-4882-b5b9-ca1a2ebb72d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266855"/>
            <a:ext cx="7772400" cy="4827208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549640" y="1371600"/>
            <a:ext cx="3017520" cy="914400"/>
          </a:xfrm>
          <a:prstGeom prst="roundRect">
            <a:avLst/>
          </a:prstGeom>
          <a:solidFill>
            <a:srgbClr val="F1F6FA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750808" y="1536192"/>
            <a:ext cx="2615184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265C8C"/>
                </a:solidFill>
              </a:defRPr>
            </a:pPr>
            <a:r>
              <a:t>Command</a:t>
            </a:r>
          </a:p>
          <a:p>
            <a:pPr>
              <a:defRPr sz="1300">
                <a:solidFill>
                  <a:srgbClr val="232A32"/>
                </a:solidFill>
              </a:defRPr>
            </a:pPr>
            <a:r>
              <a:t>nmap scanme.nmap.org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549640" y="2514600"/>
            <a:ext cx="3017520" cy="1828800"/>
          </a:xfrm>
          <a:prstGeom prst="roundRect">
            <a:avLst/>
          </a:prstGeom>
          <a:solidFill>
            <a:srgbClr val="F1F6FA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750808" y="2679192"/>
            <a:ext cx="2615184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265C8C"/>
                </a:solidFill>
              </a:defRPr>
            </a:pPr>
            <a:r>
              <a:t>Observed Open Ports</a:t>
            </a:r>
          </a:p>
          <a:p>
            <a:pPr>
              <a:defRPr sz="1300">
                <a:solidFill>
                  <a:srgbClr val="232A32"/>
                </a:solidFill>
              </a:defRPr>
            </a:pPr>
            <a:r>
              <a:t>22/tcp – ssh</a:t>
            </a:r>
            <a:br/>
            <a:r>
              <a:t>80/tcp – http</a:t>
            </a:r>
            <a:br/>
            <a:r>
              <a:t>9929/tcp – nping-echo</a:t>
            </a:r>
            <a:br/>
            <a:r>
              <a:t>31337/tcp – Elite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549640" y="4572000"/>
            <a:ext cx="3017520" cy="1005840"/>
          </a:xfrm>
          <a:prstGeom prst="roundRect">
            <a:avLst/>
          </a:prstGeom>
          <a:solidFill>
            <a:srgbClr val="F1F6FA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750808" y="4736592"/>
            <a:ext cx="2615184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265C8C"/>
                </a:solidFill>
              </a:defRPr>
            </a:pPr>
            <a:r>
              <a:t>Safety</a:t>
            </a:r>
          </a:p>
          <a:p>
            <a:pPr>
              <a:defRPr sz="1300">
                <a:solidFill>
                  <a:srgbClr val="232A32"/>
                </a:solidFill>
              </a:defRPr>
            </a:pPr>
            <a:r>
              <a:t>Scan only systems where testing is authorized.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A6774"/>
                </a:solidFill>
              </a:defRPr>
            </a:pPr>
            <a:r>
              <a:t>DG Interns Hub • Cybersecurity Internship • Week 2                                      7/10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146304"/>
          </a:xfrm>
          <a:prstGeom prst="rect">
            <a:avLst/>
          </a:prstGeom>
          <a:solidFill>
            <a:srgbClr val="11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12340"/>
                </a:solidFill>
                <a:latin typeface="Aptos Display"/>
              </a:defRPr>
            </a:pPr>
            <a:r>
              <a:t>Nmap – Service / Version Detection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59536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A6774"/>
                </a:solidFill>
                <a:latin typeface="Aptos"/>
              </a:defRPr>
            </a:pPr>
            <a:r>
              <a:t>Using -sV to identify reported service information</a:t>
            </a:r>
          </a:p>
        </p:txBody>
      </p:sp>
      <p:pic>
        <p:nvPicPr>
          <p:cNvPr id="5" name="Picture 4" descr="7613b999-6337-4918-85d1-6325a6ee343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603601"/>
            <a:ext cx="7772400" cy="4153717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549640" y="1371600"/>
            <a:ext cx="3017520" cy="914400"/>
          </a:xfrm>
          <a:prstGeom prst="roundRect">
            <a:avLst/>
          </a:prstGeom>
          <a:solidFill>
            <a:srgbClr val="F1F6FA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750808" y="1536192"/>
            <a:ext cx="2615184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265C8C"/>
                </a:solidFill>
              </a:defRPr>
            </a:pPr>
            <a:r>
              <a:t>Command</a:t>
            </a:r>
          </a:p>
          <a:p>
            <a:pPr>
              <a:defRPr sz="1300">
                <a:solidFill>
                  <a:srgbClr val="232A32"/>
                </a:solidFill>
              </a:defRPr>
            </a:pPr>
            <a:r>
              <a:t>nmap -sV scanme.nmap.org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549640" y="2514600"/>
            <a:ext cx="3017520" cy="1737360"/>
          </a:xfrm>
          <a:prstGeom prst="roundRect">
            <a:avLst/>
          </a:prstGeom>
          <a:solidFill>
            <a:srgbClr val="F1F6FA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750808" y="2679192"/>
            <a:ext cx="2615184" cy="1417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265C8C"/>
                </a:solidFill>
              </a:defRPr>
            </a:pPr>
            <a:r>
              <a:t>Observed</a:t>
            </a:r>
          </a:p>
          <a:p>
            <a:pPr>
              <a:defRPr sz="1300">
                <a:solidFill>
                  <a:srgbClr val="232A32"/>
                </a:solidFill>
              </a:defRPr>
            </a:pPr>
            <a:r>
              <a:t>22/tcp – OpenSSH 6.6.1p1</a:t>
            </a:r>
            <a:br/>
            <a:r>
              <a:t>80/tcp – Apache httpd 2.4.7</a:t>
            </a:r>
            <a:br/>
            <a:r>
              <a:t>9929/tcp – Nping echo</a:t>
            </a:r>
            <a:br/>
            <a:r>
              <a:t>31337/tcp – tcpwrapped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549640" y="4526280"/>
            <a:ext cx="3017520" cy="1005840"/>
          </a:xfrm>
          <a:prstGeom prst="roundRect">
            <a:avLst/>
          </a:prstGeom>
          <a:solidFill>
            <a:srgbClr val="F1F6FA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750808" y="4690872"/>
            <a:ext cx="2615184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265C8C"/>
                </a:solidFill>
              </a:defRPr>
            </a:pPr>
            <a:r>
              <a:t>Host Info</a:t>
            </a:r>
          </a:p>
          <a:p>
            <a:pPr>
              <a:defRPr sz="1300">
                <a:solidFill>
                  <a:srgbClr val="232A32"/>
                </a:solidFill>
              </a:defRPr>
            </a:pPr>
            <a:r>
              <a:t>Nmap reports Linux service information.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A6774"/>
                </a:solidFill>
              </a:defRPr>
            </a:pPr>
            <a:r>
              <a:t>DG Interns Hub • Cybersecurity Internship • Week 2                                      8/10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146304"/>
          </a:xfrm>
          <a:prstGeom prst="rect">
            <a:avLst/>
          </a:prstGeom>
          <a:solidFill>
            <a:srgbClr val="11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12340"/>
                </a:solidFill>
                <a:latin typeface="Aptos Display"/>
              </a:defRPr>
            </a:pPr>
            <a:r>
              <a:t>Cisco Packet Tracer – LAN Setup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59536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A6774"/>
                </a:solidFill>
                <a:latin typeface="Aptos"/>
              </a:defRPr>
            </a:pPr>
            <a:r>
              <a:t>Two PCs connected through a Cisco 2960 switch</a:t>
            </a:r>
          </a:p>
        </p:txBody>
      </p:sp>
      <p:pic>
        <p:nvPicPr>
          <p:cNvPr id="5" name="Picture 4" descr="08cf9ec1-ab0b-4899-af86-d59e78c2a91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9979" y="1234440"/>
            <a:ext cx="4435321" cy="438912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635240" y="1417320"/>
            <a:ext cx="3886200" cy="1143000"/>
          </a:xfrm>
          <a:prstGeom prst="roundRect">
            <a:avLst/>
          </a:prstGeom>
          <a:solidFill>
            <a:srgbClr val="F1F6FA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836408" y="1581912"/>
            <a:ext cx="3483864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265C8C"/>
                </a:solidFill>
              </a:defRPr>
            </a:pPr>
            <a:r>
              <a:t>PC1</a:t>
            </a:r>
          </a:p>
          <a:p>
            <a:pPr>
              <a:defRPr sz="1300">
                <a:solidFill>
                  <a:srgbClr val="232A32"/>
                </a:solidFill>
              </a:defRPr>
            </a:pPr>
            <a:r>
              <a:t>IP: 192.168.1.10</a:t>
            </a:r>
            <a:br/>
            <a:r>
              <a:t>Subnet: 255.255.255.0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35240" y="2788920"/>
            <a:ext cx="3886200" cy="1143000"/>
          </a:xfrm>
          <a:prstGeom prst="roundRect">
            <a:avLst/>
          </a:prstGeom>
          <a:solidFill>
            <a:srgbClr val="F1F6FA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836408" y="2953512"/>
            <a:ext cx="3483864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265C8C"/>
                </a:solidFill>
              </a:defRPr>
            </a:pPr>
            <a:r>
              <a:t>PC2</a:t>
            </a:r>
          </a:p>
          <a:p>
            <a:pPr>
              <a:defRPr sz="1300">
                <a:solidFill>
                  <a:srgbClr val="232A32"/>
                </a:solidFill>
              </a:defRPr>
            </a:pPr>
            <a:r>
              <a:t>IP: 192.168.1.11</a:t>
            </a:r>
            <a:br/>
            <a:r>
              <a:t>Subnet: 255.255.255.0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35240" y="4160520"/>
            <a:ext cx="3886200" cy="1234440"/>
          </a:xfrm>
          <a:prstGeom prst="roundRect">
            <a:avLst/>
          </a:prstGeom>
          <a:solidFill>
            <a:srgbClr val="F1F6FA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836408" y="4325112"/>
            <a:ext cx="3483864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265C8C"/>
                </a:solidFill>
              </a:defRPr>
            </a:pPr>
            <a:r>
              <a:t>Important Evidence Note</a:t>
            </a:r>
          </a:p>
          <a:p>
            <a:pPr>
              <a:defRPr sz="1300">
                <a:solidFill>
                  <a:srgbClr val="232A32"/>
                </a:solidFill>
              </a:defRPr>
            </a:pPr>
            <a:r>
              <a:t>The supplied ping screenshots show each PC pinging its own IP. They do not prove PC-to-PC ping.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A6774"/>
                </a:solidFill>
              </a:defRPr>
            </a:pPr>
            <a:r>
              <a:t>DG Interns Hub • Cybersecurity Internship • Week 2                                      9/10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146304"/>
          </a:xfrm>
          <a:prstGeom prst="rect">
            <a:avLst/>
          </a:prstGeom>
          <a:solidFill>
            <a:srgbClr val="11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12340"/>
                </a:solidFill>
                <a:latin typeface="Aptos Display"/>
              </a:defRPr>
            </a:pPr>
            <a:r>
              <a:t>Key Learnings &amp; Final Checklist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59536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A6774"/>
                </a:solidFill>
                <a:latin typeface="Aptos"/>
              </a:defRPr>
            </a:pPr>
            <a:r>
              <a:t>Week 2 completion summary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234440"/>
            <a:ext cx="5303520" cy="1097280"/>
          </a:xfrm>
          <a:prstGeom prst="roundRect">
            <a:avLst/>
          </a:prstGeom>
          <a:solidFill>
            <a:srgbClr val="F1F6FA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41247" y="1399032"/>
            <a:ext cx="4901183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265C8C"/>
                </a:solidFill>
              </a:defRPr>
            </a:pPr>
            <a:r>
              <a:t>What I Learned</a:t>
            </a:r>
          </a:p>
          <a:p>
            <a:pPr>
              <a:defRPr sz="1300">
                <a:solidFill>
                  <a:srgbClr val="232A32"/>
                </a:solidFill>
              </a:defRPr>
            </a:pPr>
            <a:r>
              <a:t>Network ports, device roles, packet analysis, DNS/TLS traffic, authorized scanning and basic LAN design.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560320"/>
            <a:ext cx="5303520" cy="1097280"/>
          </a:xfrm>
          <a:prstGeom prst="roundRect">
            <a:avLst/>
          </a:prstGeom>
          <a:solidFill>
            <a:srgbClr val="F1F6FA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41247" y="2724912"/>
            <a:ext cx="4901183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265C8C"/>
                </a:solidFill>
              </a:defRPr>
            </a:pPr>
            <a:r>
              <a:t>Security Understanding</a:t>
            </a:r>
          </a:p>
          <a:p>
            <a:pPr>
              <a:defRPr sz="1300">
                <a:solidFill>
                  <a:srgbClr val="232A32"/>
                </a:solidFill>
              </a:defRPr>
            </a:pPr>
            <a:r>
              <a:t>MITM, DoS and packet sniffing concepts, risks and practical prevention measures.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886200"/>
            <a:ext cx="5303520" cy="1097280"/>
          </a:xfrm>
          <a:prstGeom prst="roundRect">
            <a:avLst/>
          </a:prstGeom>
          <a:solidFill>
            <a:srgbClr val="F1F6FA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41247" y="4050791"/>
            <a:ext cx="4901183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265C8C"/>
                </a:solidFill>
              </a:defRPr>
            </a:pPr>
            <a:r>
              <a:t>Tools Practiced</a:t>
            </a:r>
          </a:p>
          <a:p>
            <a:pPr>
              <a:defRPr sz="1300">
                <a:solidFill>
                  <a:srgbClr val="232A32"/>
                </a:solidFill>
              </a:defRPr>
            </a:pPr>
            <a:r>
              <a:t>Wireshark • Nmap • Cisco Packet Tracer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234440"/>
            <a:ext cx="5257800" cy="1417320"/>
          </a:xfrm>
          <a:prstGeom prst="roundRect">
            <a:avLst/>
          </a:prstGeom>
          <a:solidFill>
            <a:srgbClr val="F1F6FA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64807" y="1399032"/>
            <a:ext cx="4855464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265C8C"/>
                </a:solidFill>
              </a:defRPr>
            </a:pPr>
            <a:r>
              <a:t>Before Submission</a:t>
            </a:r>
          </a:p>
          <a:p>
            <a:pPr>
              <a:defRPr sz="1300">
                <a:solidFill>
                  <a:srgbClr val="232A32"/>
                </a:solidFill>
              </a:defRPr>
            </a:pPr>
            <a:r>
              <a:t>Keep only your own screenshots and verify that every practical result is supported by the screenshot.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2971800"/>
            <a:ext cx="5257800" cy="1417320"/>
          </a:xfrm>
          <a:prstGeom prst="roundRect">
            <a:avLst/>
          </a:prstGeom>
          <a:solidFill>
            <a:srgbClr val="F1F6FA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64807" y="3136392"/>
            <a:ext cx="4855464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265C8C"/>
                </a:solidFill>
              </a:defRPr>
            </a:pPr>
            <a:r>
              <a:t>One Screenshot Still Needed</a:t>
            </a:r>
          </a:p>
          <a:p>
            <a:pPr>
              <a:defRPr sz="1300">
                <a:solidFill>
                  <a:srgbClr val="232A32"/>
                </a:solidFill>
              </a:defRPr>
            </a:pPr>
            <a:r>
              <a:t>For the LAN requirement, take a screenshot of PC0/PC1 pinging the OTHER PC's IP (e.g., PC0 → 192.168.1.11).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4709160"/>
            <a:ext cx="5257800" cy="868680"/>
          </a:xfrm>
          <a:prstGeom prst="roundRect">
            <a:avLst/>
          </a:prstGeom>
          <a:solidFill>
            <a:srgbClr val="F1F6FA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64807" y="4873752"/>
            <a:ext cx="485546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265C8C"/>
                </a:solidFill>
              </a:defRPr>
            </a:pPr>
            <a:r>
              <a:t>Conclusion</a:t>
            </a:r>
          </a:p>
          <a:p>
            <a:pPr>
              <a:defRPr sz="1300">
                <a:solidFill>
                  <a:srgbClr val="232A32"/>
                </a:solidFill>
              </a:defRPr>
            </a:pPr>
            <a:r>
              <a:t>Week 2 strengthened practical networking and cybersecurity fundamentals.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A6774"/>
                </a:solidFill>
              </a:defRPr>
            </a:pPr>
            <a:r>
              <a:t>DG Interns Hub • Cybersecurity Internship • Week 2                                      10/10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776</Words>
  <Application>Microsoft Office PowerPoint</Application>
  <PresentationFormat>Widescreen</PresentationFormat>
  <Paragraphs>126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Amar pratap</cp:lastModifiedBy>
  <cp:revision>2</cp:revision>
  <dcterms:created xsi:type="dcterms:W3CDTF">2013-01-27T09:14:16Z</dcterms:created>
  <dcterms:modified xsi:type="dcterms:W3CDTF">2026-09-14T05:28:41Z</dcterms:modified>
  <cp:category/>
</cp:coreProperties>
</file>