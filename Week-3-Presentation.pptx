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1.jpg"/><Relationship Id="rId5" Type="http://schemas.openxmlformats.org/officeDocument/2006/relationships/image" Target="../media/image7.jpg"/><Relationship Id="rId6" Type="http://schemas.openxmlformats.org/officeDocument/2006/relationships/image" Target="../media/image8.jpg"/><Relationship Id="rId7" Type="http://schemas.openxmlformats.org/officeDocument/2006/relationships/image" Target="../media/image9.jpg"/><Relationship Id="rId8" Type="http://schemas.openxmlformats.org/officeDocument/2006/relationships/image" Target="../media/image3.jpg"/><Relationship Id="rId9" Type="http://schemas.openxmlformats.org/officeDocument/2006/relationships/image" Target="../media/image4.jpg"/><Relationship Id="rId10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100" b="1">
                <a:solidFill>
                  <a:srgbClr val="17324D"/>
                </a:solidFill>
              </a:defRPr>
            </a:pPr>
            <a:r>
              <a:t>WEEK 3 – ADVANCED CYBERSECURITY PRACTICAL</a:t>
            </a:r>
          </a:p>
          <a:p>
            <a:pPr algn="ctr">
              <a:defRPr sz="2100"/>
            </a:pPr>
            <a:r>
              <a:t>Network Security Assessment &amp; Traffic Investigation</a:t>
            </a:r>
          </a:p>
          <a:p>
            <a:pPr algn="ctr">
              <a:defRPr sz="1600"/>
            </a:pPr>
            <a:r>
              <a:t>Amar Pratap • Cybersecurity Intern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</a:defRPr>
            </a:pPr>
            <a:r>
              <a:t>2. Objective &amp; Lab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114300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/>
            </a:pPr>
            <a:r>
              <a:t>Authorized VMware lab assessment only.</a:t>
            </a:r>
          </a:p>
          <a:p>
            <a:pPr>
              <a:spcAft>
                <a:spcPts val="900"/>
              </a:spcAft>
              <a:defRPr sz="1600"/>
            </a:pPr>
            <a:r>
              <a:t>Kali Linux is the scanning/analysis workstation.</a:t>
            </a:r>
          </a:p>
          <a:p>
            <a:pPr>
              <a:spcAft>
                <a:spcPts val="900"/>
              </a:spcAft>
              <a:defRPr sz="1600"/>
            </a:pPr>
            <a:r>
              <a:t>Assessment range shown in evidence: 192.168.56.0/24.</a:t>
            </a:r>
          </a:p>
          <a:p>
            <a:pPr>
              <a:spcAft>
                <a:spcPts val="900"/>
              </a:spcAft>
              <a:defRPr sz="1600"/>
            </a:pPr>
            <a:r>
              <a:t>Terminal evidence reports 3 hosts 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2120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Kali Linux (eth0)</a:t>
            </a:r>
          </a:p>
          <a:p>
            <a:pPr algn="ctr">
              <a:defRPr sz="1800"/>
            </a:pPr>
            <a:r>
              <a:t>↓</a:t>
            </a:r>
          </a:p>
          <a:p>
            <a:pPr algn="ctr">
              <a:defRPr sz="1800"/>
            </a:pPr>
            <a:r>
              <a:t>VMware Lab Network</a:t>
            </a:r>
          </a:p>
          <a:p>
            <a:pPr algn="ctr">
              <a:defRPr sz="1800"/>
            </a:pPr>
            <a:r>
              <a:t>↓</a:t>
            </a:r>
          </a:p>
          <a:p>
            <a:pPr algn="ctr">
              <a:defRPr sz="1800"/>
            </a:pPr>
            <a:r>
              <a:t>Authorized Lab Hosts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</a:defRPr>
            </a:pPr>
            <a:r>
              <a:t>3. Network Discovery</a:t>
            </a:r>
          </a:p>
        </p:txBody>
      </p:sp>
      <p:pic>
        <p:nvPicPr>
          <p:cNvPr id="3" name="Picture 2" descr="65f6a6f5-5f88-4e5e-80a6-96563a821eb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577840" cy="56885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14300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/>
            </a:pPr>
            <a:r>
              <a:t>Zenmap/Nmap targeted 192.168.56.0/24.</a:t>
            </a:r>
          </a:p>
          <a:p>
            <a:pPr>
              <a:spcAft>
                <a:spcPts val="900"/>
              </a:spcAft>
              <a:defRPr sz="1600"/>
            </a:pPr>
            <a:r>
              <a:t>256 addresses were scanned.</a:t>
            </a:r>
          </a:p>
          <a:p>
            <a:pPr>
              <a:spcAft>
                <a:spcPts val="900"/>
              </a:spcAft>
              <a:defRPr sz="1600"/>
            </a:pPr>
            <a:r>
              <a:t>Completed terminal evidence reports 3 hosts up.</a:t>
            </a:r>
          </a:p>
          <a:p>
            <a:pPr>
              <a:spcAft>
                <a:spcPts val="900"/>
              </a:spcAft>
              <a:defRPr sz="1600"/>
            </a:pPr>
            <a:r>
              <a:t>Original evidence is preserved.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</a:defRPr>
            </a:pPr>
            <a:r>
              <a:t>4. Advanced Nmap Results</a:t>
            </a:r>
          </a:p>
        </p:txBody>
      </p:sp>
      <p:pic>
        <p:nvPicPr>
          <p:cNvPr id="3" name="Picture 2" descr="6aa70ee6-3cd2-4f2c-892e-d68902d4536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577840" cy="28818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14300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/>
            </a:pPr>
            <a:r>
              <a:t>53/tcp is visible as open.</a:t>
            </a:r>
          </a:p>
          <a:p>
            <a:pPr>
              <a:spcAft>
                <a:spcPts val="900"/>
              </a:spcAft>
              <a:defRPr sz="1600"/>
            </a:pPr>
            <a:r>
              <a:t>Service/version output shows domain / dnsmasq 2.80.</a:t>
            </a:r>
          </a:p>
          <a:p>
            <a:pPr>
              <a:spcAft>
                <a:spcPts val="900"/>
              </a:spcAft>
              <a:defRPr sz="1600"/>
            </a:pPr>
            <a:r>
              <a:t>OS fingerprinting includes VMware/Windows-related guesses.</a:t>
            </a:r>
          </a:p>
          <a:p>
            <a:pPr>
              <a:spcAft>
                <a:spcPts val="900"/>
              </a:spcAft>
              <a:defRPr sz="1600"/>
            </a:pPr>
            <a:r>
              <a:t>UDP evidence shows 53/udp on a host.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</a:defRPr>
            </a:pPr>
            <a:r>
              <a:t>5. NSE Vulnerability Assessment</a:t>
            </a:r>
          </a:p>
        </p:txBody>
      </p:sp>
      <p:pic>
        <p:nvPicPr>
          <p:cNvPr id="3" name="Picture 2" descr="9040ca06-b527-4d68-8318-90d4f64d175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577840" cy="52583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14300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/>
            </a:pPr>
            <a:r>
              <a:t>NSE vulnerability scripts were executed.</a:t>
            </a:r>
          </a:p>
          <a:p>
            <a:pPr>
              <a:spcAft>
                <a:spcPts val="900"/>
              </a:spcAft>
              <a:defRPr sz="1600"/>
            </a:pPr>
            <a:r>
              <a:t>No confirmed CVE is visible in the supplied summary.</a:t>
            </a:r>
          </a:p>
          <a:p>
            <a:pPr>
              <a:spcAft>
                <a:spcPts val="900"/>
              </a:spcAft>
              <a:defRPr sz="1600"/>
            </a:pPr>
            <a:r>
              <a:t>Do not invent a vulnerability or severity.</a:t>
            </a:r>
          </a:p>
          <a:p>
            <a:pPr>
              <a:spcAft>
                <a:spcPts val="900"/>
              </a:spcAft>
              <a:defRPr sz="1600"/>
            </a:pPr>
            <a:r>
              <a:t>Verify versions manually against current advisories.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</a:defRPr>
            </a:pPr>
            <a:r>
              <a:t>6. Wireshark Methodology</a:t>
            </a:r>
          </a:p>
        </p:txBody>
      </p:sp>
      <p:pic>
        <p:nvPicPr>
          <p:cNvPr id="3" name="Picture 2" descr="1b3875a2-ce81-4c6d-8032-685419e68e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577840" cy="81166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14300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/>
            </a:pPr>
            <a:r>
              <a:t>Wireshark 4.6.6 is installed.</a:t>
            </a:r>
          </a:p>
          <a:p>
            <a:pPr>
              <a:spcAft>
                <a:spcPts val="900"/>
              </a:spcAft>
              <a:defRPr sz="1600"/>
            </a:pPr>
            <a:r>
              <a:t>eth0 is available for capture.</a:t>
            </a:r>
          </a:p>
          <a:p>
            <a:pPr>
              <a:spcAft>
                <a:spcPts val="900"/>
              </a:spcAft>
              <a:defRPr sz="1600"/>
            </a:pPr>
            <a:r>
              <a:t>Filters: dns, tcp, udp, icmp, arp.</a:t>
            </a:r>
          </a:p>
          <a:p>
            <a:pPr>
              <a:spcAft>
                <a:spcPts val="900"/>
              </a:spcAft>
              <a:defRPr sz="1600"/>
            </a:pPr>
            <a:r>
              <a:t>Also use SYN/RST and DNS-query filters.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</a:defRPr>
            </a:pPr>
            <a:r>
              <a:t>7. Nmap + Wireshark Investigation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114300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/>
            </a:pPr>
            <a:r>
              <a:t>Run: sudo nmap -sS &lt;TARGET-IP&gt; during capture.</a:t>
            </a:r>
          </a:p>
          <a:p>
            <a:pPr>
              <a:spcAft>
                <a:spcPts val="900"/>
              </a:spcAft>
              <a:defRPr sz="1600"/>
            </a:pPr>
            <a:r>
              <a:t>Open TCP: SYN → SYN/ACK is commonly observed.</a:t>
            </a:r>
          </a:p>
          <a:p>
            <a:pPr>
              <a:spcAft>
                <a:spcPts val="900"/>
              </a:spcAft>
              <a:defRPr sz="1600"/>
            </a:pPr>
            <a:r>
              <a:t>Closed TCP: SYN → RST is commonly observed.</a:t>
            </a:r>
          </a:p>
          <a:p>
            <a:pPr>
              <a:spcAft>
                <a:spcPts val="900"/>
              </a:spcAft>
              <a:defRPr sz="1600"/>
            </a:pPr>
            <a:r>
              <a:t>No response may indicate filtering or another network condition.</a:t>
            </a:r>
          </a:p>
          <a:p>
            <a:pPr>
              <a:spcAft>
                <a:spcPts val="900"/>
              </a:spcAft>
              <a:defRPr sz="1600"/>
            </a:pPr>
            <a:r>
              <a:t>Packet-level screenshots are still pending.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12064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Nmap SYN</a:t>
            </a:r>
          </a:p>
          <a:p>
            <a:pPr algn="ctr">
              <a:defRPr sz="2200"/>
            </a:pPr>
            <a:r>
              <a:t>↓</a:t>
            </a:r>
          </a:p>
          <a:p>
            <a:pPr algn="ctr">
              <a:defRPr sz="2200"/>
            </a:pPr>
            <a:r>
              <a:t>Target response</a:t>
            </a:r>
          </a:p>
          <a:p>
            <a:pPr algn="ctr">
              <a:defRPr sz="2200"/>
            </a:pPr>
            <a:r>
              <a:t>↓</a:t>
            </a:r>
          </a:p>
          <a:p>
            <a:pPr algn="ctr">
              <a:defRPr sz="2200"/>
            </a:pPr>
            <a:r>
              <a:t>Wireshark correlation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</a:defRPr>
            </a:pPr>
            <a:r>
              <a:t>8. Traffic Investigation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114300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/>
            </a:pPr>
            <a:r>
              <a:t>Identify top communicating hosts.</a:t>
            </a:r>
          </a:p>
          <a:p>
            <a:pPr>
              <a:spcAft>
                <a:spcPts val="900"/>
              </a:spcAft>
              <a:defRPr sz="1600"/>
            </a:pPr>
            <a:r>
              <a:t>Analyze DNS queries/responses.</a:t>
            </a:r>
          </a:p>
          <a:p>
            <a:pPr>
              <a:spcAft>
                <a:spcPts val="900"/>
              </a:spcAft>
              <a:defRPr sz="1600"/>
            </a:pPr>
            <a:r>
              <a:t>Inspect TCP SYN, SYN/ACK and RST packets.</a:t>
            </a:r>
          </a:p>
          <a:p>
            <a:pPr>
              <a:spcAft>
                <a:spcPts val="900"/>
              </a:spcAft>
              <a:defRPr sz="1600"/>
            </a:pPr>
            <a:r>
              <a:t>Investigate repeated attempts and unusual ports.</a:t>
            </a:r>
          </a:p>
          <a:p>
            <a:pPr>
              <a:spcAft>
                <a:spcPts val="900"/>
              </a:spcAft>
              <a:defRPr sz="1600"/>
            </a:pPr>
            <a:r>
              <a:t>Record at least 5 evidence-backed events.</a:t>
            </a:r>
          </a:p>
          <a:p>
            <a:pPr>
              <a:spcAft>
                <a:spcPts val="900"/>
              </a:spcAft>
              <a:defRPr sz="1600"/>
            </a:pPr>
            <a:r>
              <a:t>Current supplied images do not contain packet lists.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029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dns</a:t>
            </a:r>
          </a:p>
          <a:p>
            <a:pPr>
              <a:spcAft>
                <a:spcPts val="800"/>
              </a:spcAft>
              <a:defRPr sz="1800"/>
            </a:pPr>
            <a:r>
              <a:t>tcp</a:t>
            </a:r>
          </a:p>
          <a:p>
            <a:pPr>
              <a:spcAft>
                <a:spcPts val="800"/>
              </a:spcAft>
              <a:defRPr sz="1800"/>
            </a:pPr>
            <a:r>
              <a:t>udp</a:t>
            </a:r>
          </a:p>
          <a:p>
            <a:pPr>
              <a:spcAft>
                <a:spcPts val="800"/>
              </a:spcAft>
              <a:defRPr sz="1800"/>
            </a:pPr>
            <a:r>
              <a:t>icmp</a:t>
            </a:r>
          </a:p>
          <a:p>
            <a:pPr>
              <a:spcAft>
                <a:spcPts val="800"/>
              </a:spcAft>
              <a:defRPr sz="1800"/>
            </a:pPr>
            <a:r>
              <a:t>arp</a:t>
            </a:r>
          </a:p>
          <a:p>
            <a:pPr>
              <a:spcAft>
                <a:spcPts val="800"/>
              </a:spcAft>
              <a:defRPr sz="1800"/>
            </a:pPr>
            <a:r>
              <a:t>tcp.flags.syn == 1</a:t>
            </a:r>
          </a:p>
          <a:p>
            <a:pPr>
              <a:spcAft>
                <a:spcPts val="800"/>
              </a:spcAft>
              <a:defRPr sz="1800"/>
            </a:pPr>
            <a:r>
              <a:t>tcp.flags.reset ==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</a:defRPr>
            </a:pPr>
            <a:r>
              <a:t>9. Security Findings &amp;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114300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/>
            </a:pPr>
            <a:r>
              <a:t>DNS exposure on TCP/53 and UDP/53 should be validated.</a:t>
            </a:r>
          </a:p>
          <a:p>
            <a:pPr>
              <a:spcAft>
                <a:spcPts val="900"/>
              </a:spcAft>
              <a:defRPr sz="1600"/>
            </a:pPr>
            <a:r>
              <a:t>Filtered ports should be checked against firewall policy.</a:t>
            </a:r>
          </a:p>
          <a:p>
            <a:pPr>
              <a:spcAft>
                <a:spcPts val="900"/>
              </a:spcAft>
              <a:defRPr sz="1600"/>
            </a:pPr>
            <a:r>
              <a:t>VMware/infrastructure fingerprints should be documented.</a:t>
            </a:r>
          </a:p>
          <a:p>
            <a:pPr>
              <a:spcAft>
                <a:spcPts val="900"/>
              </a:spcAft>
              <a:defRPr sz="1600"/>
            </a:pPr>
            <a:r>
              <a:t>NSE output alone does not establish a vulnerability.</a:t>
            </a:r>
          </a:p>
          <a:p>
            <a:pPr>
              <a:spcAft>
                <a:spcPts val="900"/>
              </a:spcAft>
              <a:defRPr sz="1600"/>
            </a:pPr>
            <a:r>
              <a:t>Risk ratings remain provisional until host role/exposure is confirmed.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029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Finding → Evidence → Risk → Recommendation</a:t>
            </a:r>
          </a:p>
          <a:p>
            <a:pPr>
              <a:spcAft>
                <a:spcPts val="1000"/>
              </a:spcAft>
              <a:defRPr sz="1600"/>
            </a:pPr>
            <a:r>
              <a:t>DNS TCP/53 → Nmap → Medium*</a:t>
            </a:r>
          </a:p>
          <a:p>
            <a:pPr>
              <a:spcAft>
                <a:spcPts val="1000"/>
              </a:spcAft>
              <a:defRPr sz="1600"/>
            </a:pPr>
            <a:r>
              <a:t>DNS UDP/53 → UDP scan → Medium*</a:t>
            </a:r>
          </a:p>
          <a:p>
            <a:pPr>
              <a:spcAft>
                <a:spcPts val="1000"/>
              </a:spcAft>
              <a:defRPr sz="1600"/>
            </a:pPr>
            <a:r>
              <a:t>Filtered ports → Nmap → Informational*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</a:defRPr>
            </a:pPr>
            <a:r>
              <a:t>10. Security Hardening &amp; Before/After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114300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/>
            </a:pPr>
            <a:r>
              <a:t>Restrict unnecessary DNS/service exposure.</a:t>
            </a:r>
          </a:p>
          <a:p>
            <a:pPr>
              <a:spcAft>
                <a:spcPts val="900"/>
              </a:spcAft>
              <a:defRPr sz="1600"/>
            </a:pPr>
            <a:r>
              <a:t>Disable unnecessary services only after validation.</a:t>
            </a:r>
          </a:p>
          <a:p>
            <a:pPr>
              <a:spcAft>
                <a:spcPts val="900"/>
              </a:spcAft>
              <a:defRPr sz="1600"/>
            </a:pPr>
            <a:r>
              <a:t>Use least-privilege firewall rules.</a:t>
            </a:r>
          </a:p>
          <a:p>
            <a:pPr>
              <a:spcAft>
                <a:spcPts val="900"/>
              </a:spcAft>
              <a:defRPr sz="1600"/>
            </a:pPr>
            <a:r>
              <a:t>Repeat the same Nmap scan after changes.</a:t>
            </a:r>
          </a:p>
          <a:p>
            <a:pPr>
              <a:spcAft>
                <a:spcPts val="900"/>
              </a:spcAft>
              <a:defRPr sz="1600"/>
            </a:pPr>
            <a:r>
              <a:t>Before/after screenshots are still required.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029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BEFORE</a:t>
            </a:r>
          </a:p>
          <a:p>
            <a:pPr algn="ctr">
              <a:defRPr sz="2000"/>
            </a:pPr>
            <a:r>
              <a:t>↓</a:t>
            </a:r>
          </a:p>
          <a:p>
            <a:pPr algn="ctr">
              <a:defRPr sz="2000"/>
            </a:pPr>
            <a:r>
              <a:t>Security issue</a:t>
            </a:r>
          </a:p>
          <a:p>
            <a:pPr algn="ctr">
              <a:defRPr sz="2000"/>
            </a:pPr>
            <a:r>
              <a:t>↓</a:t>
            </a:r>
          </a:p>
          <a:p>
            <a:pPr algn="ctr">
              <a:defRPr sz="2000"/>
            </a:pPr>
            <a:r>
              <a:t>Action taken</a:t>
            </a:r>
          </a:p>
          <a:p>
            <a:pPr algn="ctr">
              <a:defRPr sz="2000"/>
            </a:pPr>
            <a:r>
              <a:t>↓</a:t>
            </a:r>
          </a:p>
          <a:p>
            <a:pPr algn="ctr">
              <a:defRPr sz="2000"/>
            </a:pPr>
            <a:r>
              <a:t>AFTER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</a:defRPr>
            </a:pPr>
            <a:r>
              <a:t>11. Evidence Screenshots</a:t>
            </a:r>
          </a:p>
        </p:txBody>
      </p:sp>
      <p:pic>
        <p:nvPicPr>
          <p:cNvPr id="3" name="Picture 2" descr="659422f9-a923-45ea-9e73-098b5f891a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3566160" cy="1508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2578608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/>
            </a:pPr>
            <a:r>
              <a:t>Original evidence 1</a:t>
            </a:r>
          </a:p>
        </p:txBody>
      </p:sp>
      <p:pic>
        <p:nvPicPr>
          <p:cNvPr id="5" name="Picture 4" descr="78213802-e08d-430c-901c-03914cf513d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051560"/>
            <a:ext cx="3566160" cy="1508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297680" y="2578608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/>
            </a:pPr>
            <a:r>
              <a:t>Original evidence 2</a:t>
            </a:r>
          </a:p>
        </p:txBody>
      </p:sp>
      <p:pic>
        <p:nvPicPr>
          <p:cNvPr id="7" name="Picture 6" descr="65f6a6f5-5f88-4e5e-80a6-96563a821eb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1051560"/>
            <a:ext cx="3566160" cy="1508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83879" y="2578608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/>
            </a:pPr>
            <a:r>
              <a:t>Original evidence 3</a:t>
            </a:r>
          </a:p>
        </p:txBody>
      </p:sp>
      <p:pic>
        <p:nvPicPr>
          <p:cNvPr id="9" name="Picture 8" descr="6043f43e-3f51-4e9a-969d-cd5e95030e7c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834639"/>
            <a:ext cx="3566160" cy="1508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4361688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/>
            </a:pPr>
            <a:r>
              <a:t>Original evidence 4</a:t>
            </a:r>
          </a:p>
        </p:txBody>
      </p:sp>
      <p:pic>
        <p:nvPicPr>
          <p:cNvPr id="11" name="Picture 10" descr="5854e307-d191-4c2a-80ee-5204f41659c7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2834639"/>
            <a:ext cx="3566160" cy="1508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97680" y="4361688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/>
            </a:pPr>
            <a:r>
              <a:t>Original evidence 5</a:t>
            </a:r>
          </a:p>
        </p:txBody>
      </p:sp>
      <p:pic>
        <p:nvPicPr>
          <p:cNvPr id="13" name="Picture 12" descr="524419dd-2ccc-4dc3-8250-15c38fd9de6d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3879" y="2834639"/>
            <a:ext cx="3566160" cy="1508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83879" y="4361688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/>
            </a:pPr>
            <a:r>
              <a:t>Original evidence 6</a:t>
            </a:r>
          </a:p>
        </p:txBody>
      </p:sp>
      <p:pic>
        <p:nvPicPr>
          <p:cNvPr id="15" name="Picture 14" descr="9040ca06-b527-4d68-8318-90d4f64d175f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" y="4617720"/>
            <a:ext cx="3566160" cy="15087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1480" y="6144768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/>
            </a:pPr>
            <a:r>
              <a:t>Original evidence 7</a:t>
            </a:r>
          </a:p>
        </p:txBody>
      </p:sp>
      <p:pic>
        <p:nvPicPr>
          <p:cNvPr id="17" name="Picture 16" descr="1b3875a2-ce81-4c6d-8032-685419e68e4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97680" y="4617720"/>
            <a:ext cx="3566160" cy="15087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297680" y="6144768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/>
            </a:pPr>
            <a:r>
              <a:t>Original evidence 8</a:t>
            </a:r>
          </a:p>
        </p:txBody>
      </p:sp>
      <p:pic>
        <p:nvPicPr>
          <p:cNvPr id="19" name="Picture 18" descr="6aa70ee6-3cd2-4f2c-892e-d68902d4536a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83879" y="4617720"/>
            <a:ext cx="3566160" cy="15087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183879" y="6144768"/>
            <a:ext cx="3566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/>
            </a:pPr>
            <a:r>
              <a:t>Original evidence 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324D"/>
                </a:solidFill>
              </a:defRPr>
            </a:pPr>
            <a:r>
              <a:t>12. Conclusion &amp; Submission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1143000"/>
            <a:ext cx="52120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/>
            </a:pPr>
            <a:r>
              <a:t>Nmap discovery/enumeration evidence is documented.</a:t>
            </a:r>
          </a:p>
          <a:p>
            <a:pPr>
              <a:spcAft>
                <a:spcPts val="900"/>
              </a:spcAft>
              <a:defRPr sz="1600"/>
            </a:pPr>
            <a:r>
              <a:t>Wireshark interface evidence is documented.</a:t>
            </a:r>
          </a:p>
          <a:p>
            <a:pPr>
              <a:spcAft>
                <a:spcPts val="900"/>
              </a:spcAft>
              <a:defRPr sz="1600"/>
            </a:pPr>
            <a:r>
              <a:t>Original screenshots are included in the evidence gallery.</a:t>
            </a:r>
          </a:p>
          <a:p>
            <a:pPr>
              <a:spcAft>
                <a:spcPts val="900"/>
              </a:spcAft>
              <a:defRPr sz="1600"/>
            </a:pPr>
            <a:r>
              <a:t>Still required: packet-level Wireshark evidence, five traffic events, and before/after hardening evidence.</a:t>
            </a:r>
          </a:p>
          <a:p>
            <a:pPr>
              <a:spcAft>
                <a:spcPts val="900"/>
              </a:spcAft>
              <a:defRPr sz="1600"/>
            </a:pPr>
            <a:r>
              <a:t>Once those are collected, the report can be finalized without fabricated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