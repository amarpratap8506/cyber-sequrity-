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Relationship Id="rId6" Type="http://schemas.openxmlformats.org/officeDocument/2006/relationships/image" Target="../media/image11.jpg"/><Relationship Id="rId7" Type="http://schemas.openxmlformats.org/officeDocument/2006/relationships/image" Target="../media/image1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image" Target="../media/image1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Relationship Id="rId4" Type="http://schemas.openxmlformats.org/officeDocument/2006/relationships/image" Target="../media/image1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4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1C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515600" cy="548640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91C334"/>
                </a:solidFill>
                <a:latin typeface="Aptos"/>
              </a:defRPr>
            </a:pPr>
            <a:r>
              <a:t>WEEK 6 PRACTICAL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515600" cy="1234440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WEB APPLICATION SECURITY</a:t>
            </a:r>
          </a:p>
          <a:p>
            <a:pPr>
              <a:spcAft>
                <a:spcPts val="500"/>
              </a:spcAft>
              <a:defRPr sz="3100" b="0">
                <a:solidFill>
                  <a:srgbClr val="FFFFFF"/>
                </a:solidFill>
                <a:latin typeface="Aptos"/>
              </a:defRPr>
            </a:pPr>
            <a:r>
              <a:t>ASSESSMENT (VAPT)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9875520" cy="868680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SQL Injection  •  Reflected &amp; Stored XSS</a:t>
            </a:r>
          </a:p>
          <a:p>
            <a:pPr>
              <a:spcAft>
                <a:spcPts val="5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Burp Suite Community Edition  •  OWASP ZAP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069080"/>
            <a:ext cx="2011680" cy="73152"/>
          </a:xfrm>
          <a:prstGeom prst="rect">
            <a:avLst/>
          </a:prstGeom>
          <a:solidFill>
            <a:srgbClr val="91C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434840"/>
            <a:ext cx="9784080" cy="822960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Prepared by: Amar Pratap</a:t>
            </a:r>
          </a:p>
          <a:p>
            <a:pPr>
              <a:spcAft>
                <a:spcPts val="5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Lab: Local DVWA on Kali/Linux guest in VMware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CDDCE8"/>
                </a:solidFill>
                <a:latin typeface="Aptos"/>
              </a:defRPr>
            </a:pPr>
            <a:r>
              <a:t>AUTHORIZED TRAINING LAB ONLY  |  Target shown: http://127.0.0.1:4280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64008"/>
          </a:xfrm>
          <a:prstGeom prst="rect">
            <a:avLst/>
          </a:prstGeom>
          <a:solidFill>
            <a:srgbClr val="91C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3456"/>
                </a:solidFill>
                <a:latin typeface="Aptos Display"/>
              </a:defRPr>
            </a:pPr>
            <a:r>
              <a:t>Contents, Scope &amp; Lab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9875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6575"/>
                </a:solidFill>
                <a:latin typeface="Aptos"/>
              </a:defRPr>
            </a:pPr>
            <a:r>
              <a:t>WEEK 6 VAPT PRACTICAL  • 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6575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5486400" cy="4480560"/>
          </a:xfrm>
          <a:prstGeom prst="rect">
            <a:avLst/>
          </a:prstGeom>
          <a:solidFill>
            <a:srgbClr val="EFF6FA"/>
          </a:solidFill>
          <a:ln>
            <a:solidFill>
              <a:srgbClr val="D7E1E9"/>
            </a:solidFill>
          </a:ln>
        </p:spPr>
        <p:txBody>
          <a:bodyPr wrap="square" lIns="164592" rIns="109728" tIns="109728" bIns="73152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53545"/>
                </a:solidFill>
                <a:latin typeface="Aptos"/>
              </a:defRPr>
            </a:pPr>
            <a:r>
              <a:t>• 1. Lab setup and assessment workflow</a:t>
            </a:r>
          </a:p>
          <a:p>
            <a:pPr>
              <a:spcAft>
                <a:spcPts val="800"/>
              </a:spcAft>
              <a:defRPr sz="1500">
                <a:solidFill>
                  <a:srgbClr val="253545"/>
                </a:solidFill>
                <a:latin typeface="Aptos"/>
              </a:defRPr>
            </a:pPr>
            <a:r>
              <a:t>• 2. SQL Injection: source, baseline and modified result</a:t>
            </a:r>
          </a:p>
          <a:p>
            <a:pPr>
              <a:spcAft>
                <a:spcPts val="800"/>
              </a:spcAft>
              <a:defRPr sz="1500">
                <a:solidFill>
                  <a:srgbClr val="253545"/>
                </a:solidFill>
                <a:latin typeface="Aptos"/>
              </a:defRPr>
            </a:pPr>
            <a:r>
              <a:t>• 3. Reflected and Stored XSS proof-of-concepts</a:t>
            </a:r>
          </a:p>
          <a:p>
            <a:pPr>
              <a:spcAft>
                <a:spcPts val="800"/>
              </a:spcAft>
              <a:defRPr sz="1500">
                <a:solidFill>
                  <a:srgbClr val="253545"/>
                </a:solidFill>
                <a:latin typeface="Aptos"/>
              </a:defRPr>
            </a:pPr>
            <a:r>
              <a:t>• 4. Burp Suite request/response analysis</a:t>
            </a:r>
          </a:p>
          <a:p>
            <a:pPr>
              <a:spcAft>
                <a:spcPts val="800"/>
              </a:spcAft>
              <a:defRPr sz="1500">
                <a:solidFill>
                  <a:srgbClr val="253545"/>
                </a:solidFill>
                <a:latin typeface="Aptos"/>
              </a:defRPr>
            </a:pPr>
            <a:r>
              <a:t>• 5. OWASP ZAP report and findings</a:t>
            </a:r>
          </a:p>
          <a:p>
            <a:pPr>
              <a:spcAft>
                <a:spcPts val="800"/>
              </a:spcAft>
              <a:defRPr sz="1500">
                <a:solidFill>
                  <a:srgbClr val="253545"/>
                </a:solidFill>
                <a:latin typeface="Aptos"/>
              </a:defRPr>
            </a:pPr>
            <a:r>
              <a:t>• 6. Remediation, verification and conclusion</a:t>
            </a:r>
          </a:p>
        </p:txBody>
      </p:sp>
      <p:pic>
        <p:nvPicPr>
          <p:cNvPr id="8" name="Picture 7" descr="ebc95974-bc2e-4989-bdf4-f35dd6a53e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612" y="1142999"/>
            <a:ext cx="4783015" cy="32004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69612" y="1142999"/>
            <a:ext cx="4783015" cy="3200400"/>
          </a:xfrm>
          <a:prstGeom prst="rect">
            <a:avLst/>
          </a:prstGeom>
          <a:noFill/>
          <a:ln w="10160"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4389120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>
                <a:solidFill>
                  <a:srgbClr val="526575"/>
                </a:solidFill>
                <a:latin typeface="Aptos"/>
              </a:defRPr>
            </a:pPr>
            <a:r>
              <a:t>Original evidence: DVWA home page and lab warning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800600"/>
            <a:ext cx="5120640" cy="1005840"/>
          </a:xfrm>
          <a:prstGeom prst="rect">
            <a:avLst/>
          </a:prstGeom>
          <a:solidFill>
            <a:srgbClr val="EFF6FA"/>
          </a:solidFill>
          <a:ln>
            <a:solidFill>
              <a:srgbClr val="D7E1E9"/>
            </a:solidFill>
          </a:ln>
        </p:spPr>
        <p:txBody>
          <a:bodyPr wrap="square" lIns="109728" rIns="109728" tIns="109728" bIns="109728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53545"/>
                </a:solidFill>
                <a:latin typeface="Aptos"/>
              </a:defRPr>
            </a:pPr>
            <a:r>
              <a:t>Scope: local target only — 127.0.0.1:4280</a:t>
            </a:r>
          </a:p>
          <a:p>
            <a:pPr>
              <a:spcAft>
                <a:spcPts val="500"/>
              </a:spcAft>
              <a:defRPr sz="1300" b="0">
                <a:solidFill>
                  <a:srgbClr val="253545"/>
                </a:solidFill>
                <a:latin typeface="Aptos"/>
              </a:defRPr>
            </a:pPr>
            <a:r>
              <a:t>No public website or production system is included.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715000"/>
            <a:ext cx="10881360" cy="457200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B13838"/>
                </a:solidFill>
                <a:latin typeface="Aptos"/>
              </a:defRPr>
            </a:pPr>
            <a:r>
              <a:t>Safety: DVWA is intentionally vulnerable. Keep it on localhost/isolated networking; never expose it publicly.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64008"/>
          </a:xfrm>
          <a:prstGeom prst="rect">
            <a:avLst/>
          </a:prstGeom>
          <a:solidFill>
            <a:srgbClr val="91C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3456"/>
                </a:solidFill>
                <a:latin typeface="Aptos Display"/>
              </a:defRPr>
            </a:pPr>
            <a:r>
              <a:t>Tools &amp; Assessment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9875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6575"/>
                </a:solidFill>
                <a:latin typeface="Aptos"/>
              </a:defRPr>
            </a:pPr>
            <a:r>
              <a:t>WEEK 6 VAPT PRACTICAL  • 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6575"/>
                </a:solidFill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143000"/>
            <a:ext cx="5257800" cy="1051560"/>
          </a:xfrm>
          <a:prstGeom prst="rect">
            <a:avLst/>
          </a:prstGeom>
          <a:solidFill>
            <a:srgbClr val="EFF6FA"/>
          </a:solidFill>
          <a:ln>
            <a:solidFill>
              <a:srgbClr val="D7E1E9"/>
            </a:solidFill>
          </a:ln>
        </p:spPr>
        <p:txBody>
          <a:bodyPr wrap="square" lIns="109728" rIns="109728" tIns="109728" bIns="10972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53545"/>
                </a:solidFill>
                <a:latin typeface="Aptos"/>
              </a:defRPr>
            </a:pPr>
            <a:r>
              <a:t>DVWA</a:t>
            </a:r>
          </a:p>
          <a:p>
            <a:pPr>
              <a:spcAft>
                <a:spcPts val="500"/>
              </a:spcAft>
              <a:defRPr sz="1400" b="0">
                <a:solidFill>
                  <a:srgbClr val="253545"/>
                </a:solidFill>
                <a:latin typeface="Aptos"/>
              </a:defRPr>
            </a:pPr>
            <a:r>
              <a:t>Intentionally vulnerable training app for controlled practice.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143000"/>
            <a:ext cx="5257800" cy="1051560"/>
          </a:xfrm>
          <a:prstGeom prst="rect">
            <a:avLst/>
          </a:prstGeom>
          <a:solidFill>
            <a:srgbClr val="EFF6FA"/>
          </a:solidFill>
          <a:ln>
            <a:solidFill>
              <a:srgbClr val="D7E1E9"/>
            </a:solidFill>
          </a:ln>
        </p:spPr>
        <p:txBody>
          <a:bodyPr wrap="square" lIns="109728" rIns="109728" tIns="109728" bIns="10972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53545"/>
                </a:solidFill>
                <a:latin typeface="Aptos"/>
              </a:defRPr>
            </a:pPr>
            <a:r>
              <a:t>Burp Suite</a:t>
            </a:r>
          </a:p>
          <a:p>
            <a:pPr>
              <a:spcAft>
                <a:spcPts val="500"/>
              </a:spcAft>
              <a:defRPr sz="1400" b="0">
                <a:solidFill>
                  <a:srgbClr val="253545"/>
                </a:solidFill>
                <a:latin typeface="Aptos"/>
              </a:defRPr>
            </a:pPr>
            <a:r>
              <a:t>Intercepts and records HTTP requests/responses for manual review.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60320"/>
            <a:ext cx="5257800" cy="1051560"/>
          </a:xfrm>
          <a:prstGeom prst="rect">
            <a:avLst/>
          </a:prstGeom>
          <a:solidFill>
            <a:srgbClr val="EFF6FA"/>
          </a:solidFill>
          <a:ln>
            <a:solidFill>
              <a:srgbClr val="D7E1E9"/>
            </a:solidFill>
          </a:ln>
        </p:spPr>
        <p:txBody>
          <a:bodyPr wrap="square" lIns="109728" rIns="109728" tIns="109728" bIns="10972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53545"/>
                </a:solidFill>
                <a:latin typeface="Aptos"/>
              </a:defRPr>
            </a:pPr>
            <a:r>
              <a:t>OWASP ZAP</a:t>
            </a:r>
          </a:p>
          <a:p>
            <a:pPr>
              <a:spcAft>
                <a:spcPts val="500"/>
              </a:spcAft>
              <a:defRPr sz="1400" b="0">
                <a:solidFill>
                  <a:srgbClr val="253545"/>
                </a:solidFill>
                <a:latin typeface="Aptos"/>
              </a:defRPr>
            </a:pPr>
            <a:r>
              <a:t>Scanner identifies potential issues; each alert needs validation.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60320"/>
            <a:ext cx="5257800" cy="1051560"/>
          </a:xfrm>
          <a:prstGeom prst="rect">
            <a:avLst/>
          </a:prstGeom>
          <a:solidFill>
            <a:srgbClr val="EFF6FA"/>
          </a:solidFill>
          <a:ln>
            <a:solidFill>
              <a:srgbClr val="D7E1E9"/>
            </a:solidFill>
          </a:ln>
        </p:spPr>
        <p:txBody>
          <a:bodyPr wrap="square" lIns="109728" rIns="109728" tIns="109728" bIns="10972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53545"/>
                </a:solidFill>
                <a:latin typeface="Aptos"/>
              </a:defRPr>
            </a:pPr>
            <a:r>
              <a:t>Browser</a:t>
            </a:r>
          </a:p>
          <a:p>
            <a:pPr>
              <a:spcAft>
                <a:spcPts val="500"/>
              </a:spcAft>
              <a:defRPr sz="1400" b="0">
                <a:solidFill>
                  <a:srgbClr val="253545"/>
                </a:solidFill>
                <a:latin typeface="Aptos"/>
              </a:defRPr>
            </a:pPr>
            <a:r>
              <a:t>Shows application behavior and XSS proof-of-concept alerts.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251960"/>
            <a:ext cx="10789920" cy="411480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23456"/>
                </a:solidFill>
                <a:latin typeface="Aptos"/>
              </a:defRPr>
            </a:pPr>
            <a:r>
              <a:t>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663440"/>
            <a:ext cx="10789920" cy="1234440"/>
          </a:xfrm>
          <a:prstGeom prst="rect">
            <a:avLst/>
          </a:prstGeom>
          <a:noFill/>
        </p:spPr>
        <p:txBody>
          <a:bodyPr wrap="square" lIns="164592" rIns="109728" tIns="109728" bIns="7315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53545"/>
                </a:solidFill>
                <a:latin typeface="Aptos"/>
              </a:defRPr>
            </a:pPr>
            <a:r>
              <a:t>• Confirm local scope → run normal baseline → test DVWA training modules → inspect traffic in Burp → run ZAP checks → document evidence and fixes.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64008"/>
          </a:xfrm>
          <a:prstGeom prst="rect">
            <a:avLst/>
          </a:prstGeom>
          <a:solidFill>
            <a:srgbClr val="91C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3456"/>
                </a:solidFill>
                <a:latin typeface="Aptos Display"/>
              </a:defRPr>
            </a:pPr>
            <a:r>
              <a:t>SQL Injection — Source, Baseline &amp;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9875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6575"/>
                </a:solidFill>
                <a:latin typeface="Aptos"/>
              </a:defRPr>
            </a:pPr>
            <a:r>
              <a:t>WEEK 6 VAPT PRACTICAL  •  SQLI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6575"/>
                </a:solidFill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24128"/>
            <a:ext cx="3657600" cy="1188720"/>
          </a:xfrm>
          <a:prstGeom prst="rect">
            <a:avLst/>
          </a:prstGeom>
          <a:solidFill>
            <a:srgbClr val="EFF6FA"/>
          </a:solidFill>
          <a:ln>
            <a:solidFill>
              <a:srgbClr val="D7E1E9"/>
            </a:solidFill>
          </a:ln>
        </p:spPr>
        <p:txBody>
          <a:bodyPr wrap="square" lIns="109728" rIns="109728" tIns="109728" bIns="109728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53545"/>
                </a:solidFill>
                <a:latin typeface="Aptos"/>
              </a:defRPr>
            </a:pPr>
            <a:r>
              <a:t>SQL Injection occurs when untrusted input is joined into SQL query text, allowing input to alter query logic.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77440"/>
            <a:ext cx="3657600" cy="1508760"/>
          </a:xfrm>
          <a:prstGeom prst="rect">
            <a:avLst/>
          </a:prstGeom>
          <a:solidFill>
            <a:srgbClr val="EFF6FA"/>
          </a:solidFill>
          <a:ln>
            <a:solidFill>
              <a:srgbClr val="D7E1E9"/>
            </a:solidFill>
          </a:ln>
        </p:spPr>
        <p:txBody>
          <a:bodyPr wrap="square" lIns="109728" rIns="109728" tIns="109728" bIns="10972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53545"/>
                </a:solidFill>
                <a:latin typeface="Aptos"/>
              </a:defRPr>
            </a:pPr>
            <a:r>
              <a:t>Evidence interpretation</a:t>
            </a:r>
          </a:p>
          <a:p>
            <a:pPr>
              <a:spcAft>
                <a:spcPts val="500"/>
              </a:spcAft>
              <a:defRPr sz="1200" b="0">
                <a:solidFill>
                  <a:srgbClr val="253545"/>
                </a:solidFill>
                <a:latin typeface="Aptos"/>
              </a:defRPr>
            </a:pPr>
            <a:r>
              <a:t>• Source screenshot shows the ID input used in a query.</a:t>
            </a:r>
          </a:p>
          <a:p>
            <a:pPr>
              <a:spcAft>
                <a:spcPts val="500"/>
              </a:spcAft>
              <a:defRPr sz="1200" b="0">
                <a:solidFill>
                  <a:srgbClr val="253545"/>
                </a:solidFill>
                <a:latin typeface="Aptos"/>
              </a:defRPr>
            </a:pPr>
            <a:r>
              <a:t>• Normal lookup returns the admin record.</a:t>
            </a:r>
          </a:p>
          <a:p>
            <a:pPr>
              <a:spcAft>
                <a:spcPts val="500"/>
              </a:spcAft>
              <a:defRPr sz="1200" b="0">
                <a:solidFill>
                  <a:srgbClr val="253545"/>
                </a:solidFill>
                <a:latin typeface="Aptos"/>
              </a:defRPr>
            </a:pPr>
            <a:r>
              <a:t>• Modified input returns multiple records in this deliberately vulnerable lab.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069080"/>
            <a:ext cx="3657600" cy="1188720"/>
          </a:xfrm>
          <a:prstGeom prst="rect">
            <a:avLst/>
          </a:prstGeom>
          <a:solidFill>
            <a:srgbClr val="EFF6FA"/>
          </a:solidFill>
          <a:ln>
            <a:solidFill>
              <a:srgbClr val="D7E1E9"/>
            </a:solidFill>
          </a:ln>
        </p:spPr>
        <p:txBody>
          <a:bodyPr wrap="square" lIns="109728" rIns="109728" tIns="109728" bIns="10972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53545"/>
                </a:solidFill>
                <a:latin typeface="Aptos"/>
              </a:defRPr>
            </a:pPr>
            <a:r>
              <a:t>Fix: prepared statements / parameterized queries, input type checks, least-privilege DB account, and safe error handling.</a:t>
            </a:r>
          </a:p>
        </p:txBody>
      </p:sp>
      <p:pic>
        <p:nvPicPr>
          <p:cNvPr id="10" name="Picture 9" descr="2b2844c3-33f5-4109-ad4e-005cb31a9bf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93" y="1143000"/>
            <a:ext cx="3185012" cy="42976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465393" y="1143000"/>
            <a:ext cx="3185012" cy="4297680"/>
          </a:xfrm>
          <a:prstGeom prst="rect">
            <a:avLst/>
          </a:prstGeom>
          <a:noFill/>
          <a:ln w="10160"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5486400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>
                <a:solidFill>
                  <a:srgbClr val="526575"/>
                </a:solidFill>
                <a:latin typeface="Aptos"/>
              </a:defRPr>
            </a:pPr>
            <a:r>
              <a:t>SQLi source code</a:t>
            </a:r>
          </a:p>
        </p:txBody>
      </p:sp>
      <p:pic>
        <p:nvPicPr>
          <p:cNvPr id="13" name="Picture 12" descr="84af58ce-4c1c-424f-86b0-8181bd1f432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9748" y="1143000"/>
            <a:ext cx="1962942" cy="20574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8779748" y="1143000"/>
            <a:ext cx="1962942" cy="2057400"/>
          </a:xfrm>
          <a:prstGeom prst="rect">
            <a:avLst/>
          </a:prstGeom>
          <a:noFill/>
          <a:ln w="10160"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3246120"/>
            <a:ext cx="3703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>
                <a:solidFill>
                  <a:srgbClr val="526575"/>
                </a:solidFill>
                <a:latin typeface="Aptos"/>
              </a:defRPr>
            </a:pPr>
            <a:r>
              <a:t>Baseline: ID 1 returns one record</a:t>
            </a:r>
          </a:p>
        </p:txBody>
      </p:sp>
      <p:pic>
        <p:nvPicPr>
          <p:cNvPr id="16" name="Picture 15" descr="220d4179-bffc-4626-ad78-8d7b343dd2f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2691" y="3611880"/>
            <a:ext cx="1997057" cy="20574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8762691" y="3611880"/>
            <a:ext cx="1997057" cy="2057400"/>
          </a:xfrm>
          <a:prstGeom prst="rect">
            <a:avLst/>
          </a:prstGeom>
          <a:noFill/>
          <a:ln w="10160"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5715000"/>
            <a:ext cx="3703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>
                <a:solidFill>
                  <a:srgbClr val="526575"/>
                </a:solidFill>
                <a:latin typeface="Aptos"/>
              </a:defRPr>
            </a:pPr>
            <a:r>
              <a:t>Modified input returns multiple records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64008"/>
          </a:xfrm>
          <a:prstGeom prst="rect">
            <a:avLst/>
          </a:prstGeom>
          <a:solidFill>
            <a:srgbClr val="91C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3456"/>
                </a:solidFill>
                <a:latin typeface="Aptos Display"/>
              </a:defRPr>
            </a:pPr>
            <a:r>
              <a:t>Cross-Site Scripting — Reflected &amp; Stored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9875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6575"/>
                </a:solidFill>
                <a:latin typeface="Aptos"/>
              </a:defRPr>
            </a:pPr>
            <a:r>
              <a:t>WEEK 6 VAPT PRACTICAL  •  XSS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6575"/>
                </a:solidFill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97280"/>
            <a:ext cx="3200400" cy="4480560"/>
          </a:xfrm>
          <a:prstGeom prst="rect">
            <a:avLst/>
          </a:prstGeom>
          <a:solidFill>
            <a:srgbClr val="EFF6FA"/>
          </a:solidFill>
          <a:ln>
            <a:solidFill>
              <a:srgbClr val="D7E1E9"/>
            </a:solidFill>
          </a:ln>
        </p:spPr>
        <p:txBody>
          <a:bodyPr wrap="square" lIns="109728" rIns="109728" tIns="109728" bIns="109728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53545"/>
                </a:solidFill>
                <a:latin typeface="Aptos"/>
              </a:defRPr>
            </a:pPr>
            <a:r>
              <a:t>Reflected XSS</a:t>
            </a:r>
          </a:p>
          <a:p>
            <a:pPr>
              <a:spcAft>
                <a:spcPts val="500"/>
              </a:spcAft>
              <a:defRPr sz="1300" b="0">
                <a:solidFill>
                  <a:srgbClr val="253545"/>
                </a:solidFill>
                <a:latin typeface="Aptos"/>
              </a:defRPr>
            </a:pPr>
            <a:r>
              <a:t>Untrusted input is returned in the immediate response and interpreted by the browser.</a:t>
            </a:r>
          </a:p>
          <a:p>
            <a:pPr>
              <a:spcAft>
                <a:spcPts val="500"/>
              </a:spcAft>
              <a:defRPr sz="1300" b="0">
                <a:solidFill>
                  <a:srgbClr val="253545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300" b="0">
                <a:solidFill>
                  <a:srgbClr val="253545"/>
                </a:solidFill>
                <a:latin typeface="Aptos"/>
              </a:defRPr>
            </a:pPr>
            <a:r>
              <a:t>Stored XSS</a:t>
            </a:r>
          </a:p>
          <a:p>
            <a:pPr>
              <a:spcAft>
                <a:spcPts val="500"/>
              </a:spcAft>
              <a:defRPr sz="1300" b="0">
                <a:solidFill>
                  <a:srgbClr val="253545"/>
                </a:solidFill>
                <a:latin typeface="Aptos"/>
              </a:defRPr>
            </a:pPr>
            <a:r>
              <a:t>Untrusted input is saved and displayed later, potentially affecting subsequent visitors.</a:t>
            </a:r>
          </a:p>
          <a:p>
            <a:pPr>
              <a:spcAft>
                <a:spcPts val="500"/>
              </a:spcAft>
              <a:defRPr sz="1300" b="0">
                <a:solidFill>
                  <a:srgbClr val="253545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300" b="0">
                <a:solidFill>
                  <a:srgbClr val="253545"/>
                </a:solidFill>
                <a:latin typeface="Aptos"/>
              </a:defRPr>
            </a:pPr>
            <a:r>
              <a:t>Evidence</a:t>
            </a:r>
          </a:p>
          <a:p>
            <a:pPr>
              <a:spcAft>
                <a:spcPts val="500"/>
              </a:spcAft>
              <a:defRPr sz="1300" b="0">
                <a:solidFill>
                  <a:srgbClr val="253545"/>
                </a:solidFill>
                <a:latin typeface="Aptos"/>
              </a:defRPr>
            </a:pPr>
            <a:r>
              <a:t>The screenshots show “XSS Test” and “Stored XSS Test” alert dialogs in local DVWA.</a:t>
            </a:r>
          </a:p>
          <a:p>
            <a:pPr>
              <a:spcAft>
                <a:spcPts val="500"/>
              </a:spcAft>
              <a:defRPr sz="1300" b="0">
                <a:solidFill>
                  <a:srgbClr val="253545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300" b="0">
                <a:solidFill>
                  <a:srgbClr val="253545"/>
                </a:solidFill>
                <a:latin typeface="Aptos"/>
              </a:defRPr>
            </a:pPr>
            <a:r>
              <a:t>Fix</a:t>
            </a:r>
          </a:p>
          <a:p>
            <a:pPr>
              <a:spcAft>
                <a:spcPts val="500"/>
              </a:spcAft>
              <a:defRPr sz="1300" b="0">
                <a:solidFill>
                  <a:srgbClr val="253545"/>
                </a:solidFill>
                <a:latin typeface="Aptos"/>
              </a:defRPr>
            </a:pPr>
            <a:r>
              <a:t>Context-aware output encoding, safe DOM APIs, careful rich-text sanitization, and CSP as defense in depth.</a:t>
            </a:r>
          </a:p>
        </p:txBody>
      </p:sp>
      <p:pic>
        <p:nvPicPr>
          <p:cNvPr id="8" name="Picture 7" descr="735c069b-68fd-432b-89f1-b1e149aa945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1621109"/>
            <a:ext cx="3520440" cy="34786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069080" y="1621109"/>
            <a:ext cx="3520440" cy="3478620"/>
          </a:xfrm>
          <a:prstGeom prst="rect">
            <a:avLst/>
          </a:prstGeom>
          <a:noFill/>
          <a:ln w="10160"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9080" y="5577840"/>
            <a:ext cx="35204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>
                <a:solidFill>
                  <a:srgbClr val="526575"/>
                </a:solidFill>
                <a:latin typeface="Aptos"/>
              </a:defRPr>
            </a:pPr>
            <a:r>
              <a:t>Original: reflected XSS alert</a:t>
            </a:r>
          </a:p>
        </p:txBody>
      </p:sp>
      <p:pic>
        <p:nvPicPr>
          <p:cNvPr id="11" name="Picture 10" descr="633159e7-7ccb-4e86-a3ad-65815d486b5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248388"/>
            <a:ext cx="3611880" cy="422406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818120" y="1248388"/>
            <a:ext cx="3611880" cy="4224063"/>
          </a:xfrm>
          <a:prstGeom prst="rect">
            <a:avLst/>
          </a:prstGeom>
          <a:noFill/>
          <a:ln w="10160"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5577840"/>
            <a:ext cx="3611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>
                <a:solidFill>
                  <a:srgbClr val="526575"/>
                </a:solidFill>
                <a:latin typeface="Aptos"/>
              </a:defRPr>
            </a:pPr>
            <a:r>
              <a:t>Original: stored XSS alert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5989320"/>
            <a:ext cx="7315200" cy="320040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B13838"/>
                </a:solidFill>
                <a:latin typeface="Aptos"/>
              </a:defRPr>
            </a:pPr>
            <a:r>
              <a:t>Lab proof-of-concept only; screenshots do not demonstrate compromise of a real user.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64008"/>
          </a:xfrm>
          <a:prstGeom prst="rect">
            <a:avLst/>
          </a:prstGeom>
          <a:solidFill>
            <a:srgbClr val="91C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3456"/>
                </a:solidFill>
                <a:latin typeface="Aptos Display"/>
              </a:defRPr>
            </a:pPr>
            <a:r>
              <a:t>Burp Suite — HTTP Traffic Inspection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9875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6575"/>
                </a:solidFill>
                <a:latin typeface="Aptos"/>
              </a:defRPr>
            </a:pPr>
            <a:r>
              <a:t>WEEK 6 VAPT PRACTICAL  •  BURP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6575"/>
                </a:solidFill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1064240" cy="594360"/>
          </a:xfrm>
          <a:prstGeom prst="rect">
            <a:avLst/>
          </a:prstGeom>
          <a:solidFill>
            <a:srgbClr val="EFF6FA"/>
          </a:solidFill>
          <a:ln>
            <a:solidFill>
              <a:srgbClr val="D7E1E9"/>
            </a:solidFill>
          </a:ln>
        </p:spPr>
        <p:txBody>
          <a:bodyPr wrap="square" lIns="109728" rIns="109728" tIns="109728" bIns="109728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53545"/>
                </a:solidFill>
                <a:latin typeface="Aptos"/>
              </a:defRPr>
            </a:pPr>
            <a:r>
              <a:t>Burp captures browser traffic so the tester can compare request paths, methods, parameters, cookies, response status and headers.</a:t>
            </a:r>
          </a:p>
        </p:txBody>
      </p:sp>
      <p:pic>
        <p:nvPicPr>
          <p:cNvPr id="8" name="Picture 7" descr="33ae613b-68ce-4d2c-95cd-619d9a16cac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129" y="1783080"/>
            <a:ext cx="2393461" cy="16002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112129" y="1783080"/>
            <a:ext cx="2393461" cy="1600200"/>
          </a:xfrm>
          <a:prstGeom prst="rect">
            <a:avLst/>
          </a:prstGeom>
          <a:noFill/>
          <a:ln w="10160"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419856"/>
            <a:ext cx="3611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>
                <a:solidFill>
                  <a:srgbClr val="526575"/>
                </a:solidFill>
                <a:latin typeface="Aptos"/>
              </a:defRPr>
            </a:pPr>
            <a:r>
              <a:t>Proxy intercept</a:t>
            </a:r>
          </a:p>
        </p:txBody>
      </p:sp>
      <p:pic>
        <p:nvPicPr>
          <p:cNvPr id="11" name="Picture 10" descr="954899b5-6dd9-4686-8bf7-2ba643d20f7f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9302" y="1783080"/>
            <a:ext cx="1212058" cy="16002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79302" y="1783080"/>
            <a:ext cx="1212058" cy="1600200"/>
          </a:xfrm>
          <a:prstGeom prst="rect">
            <a:avLst/>
          </a:prstGeom>
          <a:noFill/>
          <a:ln w="10160"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9392" y="3419856"/>
            <a:ext cx="3611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>
                <a:solidFill>
                  <a:srgbClr val="526575"/>
                </a:solidFill>
                <a:latin typeface="Aptos"/>
              </a:defRPr>
            </a:pPr>
            <a:r>
              <a:t>Request to SQLi module</a:t>
            </a:r>
          </a:p>
        </p:txBody>
      </p:sp>
      <p:pic>
        <p:nvPicPr>
          <p:cNvPr id="14" name="Picture 13" descr="63bfb93e-0c7d-4b26-b086-21a78c34803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5095" y="1783080"/>
            <a:ext cx="1255128" cy="16002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9225095" y="1783080"/>
            <a:ext cx="1255128" cy="1600200"/>
          </a:xfrm>
          <a:prstGeom prst="rect">
            <a:avLst/>
          </a:prstGeom>
          <a:noFill/>
          <a:ln w="10160"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3419856"/>
            <a:ext cx="3611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>
                <a:solidFill>
                  <a:srgbClr val="526575"/>
                </a:solidFill>
                <a:latin typeface="Aptos"/>
              </a:defRPr>
            </a:pPr>
            <a:r>
              <a:t>Login request</a:t>
            </a:r>
          </a:p>
        </p:txBody>
      </p:sp>
      <p:pic>
        <p:nvPicPr>
          <p:cNvPr id="17" name="Picture 16" descr="b44f2e2b-b04b-45a3-98c1-598918a92ef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799" y="3794760"/>
            <a:ext cx="2658120" cy="16002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979799" y="3794760"/>
            <a:ext cx="2658120" cy="1600200"/>
          </a:xfrm>
          <a:prstGeom prst="rect">
            <a:avLst/>
          </a:prstGeom>
          <a:noFill/>
          <a:ln w="10160"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431536"/>
            <a:ext cx="3611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>
                <a:solidFill>
                  <a:srgbClr val="526575"/>
                </a:solidFill>
                <a:latin typeface="Aptos"/>
              </a:defRPr>
            </a:pPr>
            <a:r>
              <a:t>HTTP history</a:t>
            </a:r>
          </a:p>
        </p:txBody>
      </p:sp>
      <p:pic>
        <p:nvPicPr>
          <p:cNvPr id="20" name="Picture 19" descr="ebe9c409-baac-421c-ac16-84aafcb5fc9a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1657" y="3794760"/>
            <a:ext cx="2427348" cy="16002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4871657" y="3794760"/>
            <a:ext cx="2427348" cy="1600200"/>
          </a:xfrm>
          <a:prstGeom prst="rect">
            <a:avLst/>
          </a:prstGeom>
          <a:noFill/>
          <a:ln w="10160"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5431536"/>
            <a:ext cx="3611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>
                <a:solidFill>
                  <a:srgbClr val="526575"/>
                </a:solidFill>
                <a:latin typeface="Aptos"/>
              </a:defRPr>
            </a:pPr>
            <a:r>
              <a:t>302 redirect and headers</a:t>
            </a:r>
          </a:p>
        </p:txBody>
      </p:sp>
      <p:pic>
        <p:nvPicPr>
          <p:cNvPr id="23" name="Picture 22" descr="8531743c-860e-44cc-8ac4-d362258a26b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5856" y="3794760"/>
            <a:ext cx="2713607" cy="16002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8495856" y="3794760"/>
            <a:ext cx="2713607" cy="1600200"/>
          </a:xfrm>
          <a:prstGeom prst="rect">
            <a:avLst/>
          </a:prstGeom>
          <a:noFill/>
          <a:ln w="10160"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5431536"/>
            <a:ext cx="3611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>
                <a:solidFill>
                  <a:srgbClr val="526575"/>
                </a:solidFill>
                <a:latin typeface="Aptos"/>
              </a:defRPr>
            </a:pPr>
            <a:r>
              <a:t>SQLi request / 200 response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989320"/>
            <a:ext cx="10881360" cy="320040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B13838"/>
                </a:solidFill>
                <a:latin typeface="Aptos"/>
              </a:defRPr>
            </a:pPr>
            <a:r>
              <a:t>Important: HTTP 200/302 and a visible request are not vulnerabilities by themselves. Redact cookies and tokens before sharing.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64008"/>
          </a:xfrm>
          <a:prstGeom prst="rect">
            <a:avLst/>
          </a:prstGeom>
          <a:solidFill>
            <a:srgbClr val="91C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3456"/>
                </a:solidFill>
                <a:latin typeface="Aptos Display"/>
              </a:defRPr>
            </a:pPr>
            <a:r>
              <a:t>OWASP ZAP — Setup &amp; Report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9875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6575"/>
                </a:solidFill>
                <a:latin typeface="Aptos"/>
              </a:defRPr>
            </a:pPr>
            <a:r>
              <a:t>WEEK 6 VAPT PRACTICAL  •  ZAP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6575"/>
                </a:solidFill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2880360" cy="4526280"/>
          </a:xfrm>
          <a:prstGeom prst="rect">
            <a:avLst/>
          </a:prstGeom>
          <a:solidFill>
            <a:srgbClr val="EFF6FA"/>
          </a:solidFill>
          <a:ln>
            <a:solidFill>
              <a:srgbClr val="D7E1E9"/>
            </a:solidFill>
          </a:ln>
        </p:spPr>
        <p:txBody>
          <a:bodyPr wrap="square" lIns="109728" rIns="109728" tIns="109728" bIns="10972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53545"/>
                </a:solidFill>
                <a:latin typeface="Aptos"/>
              </a:defRPr>
            </a:pPr>
            <a:r>
              <a:t>ZAP 2.17.0 was used to scan the local DVWA target and generate an HTML report.</a:t>
            </a:r>
          </a:p>
          <a:p>
            <a:pPr>
              <a:spcAft>
                <a:spcPts val="500"/>
              </a:spcAft>
              <a:defRPr sz="1200" b="0">
                <a:solidFill>
                  <a:srgbClr val="253545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200" b="0">
                <a:solidFill>
                  <a:srgbClr val="253545"/>
                </a:solidFill>
                <a:latin typeface="Aptos"/>
              </a:defRPr>
            </a:pPr>
            <a:r>
              <a:t>Report configuration shown:</a:t>
            </a:r>
          </a:p>
          <a:p>
            <a:pPr>
              <a:spcAft>
                <a:spcPts val="500"/>
              </a:spcAft>
              <a:defRPr sz="1200" b="0">
                <a:solidFill>
                  <a:srgbClr val="253545"/>
                </a:solidFill>
                <a:latin typeface="Aptos"/>
              </a:defRPr>
            </a:pPr>
            <a:r>
              <a:t>• Site: http://127.0.0.1:4280</a:t>
            </a:r>
          </a:p>
          <a:p>
            <a:pPr>
              <a:spcAft>
                <a:spcPts val="500"/>
              </a:spcAft>
              <a:defRPr sz="1200" b="0">
                <a:solidFill>
                  <a:srgbClr val="253545"/>
                </a:solidFill>
                <a:latin typeface="Aptos"/>
              </a:defRPr>
            </a:pPr>
            <a:r>
              <a:t>• Directory: /home/amar</a:t>
            </a:r>
          </a:p>
          <a:p>
            <a:pPr>
              <a:spcAft>
                <a:spcPts val="500"/>
              </a:spcAft>
              <a:defRPr sz="1200" b="0">
                <a:solidFill>
                  <a:srgbClr val="253545"/>
                </a:solidFill>
                <a:latin typeface="Aptos"/>
              </a:defRPr>
            </a:pPr>
            <a:r>
              <a:t>• HTML report opened locally</a:t>
            </a:r>
          </a:p>
          <a:p>
            <a:pPr>
              <a:spcAft>
                <a:spcPts val="500"/>
              </a:spcAft>
              <a:defRPr sz="1200" b="0">
                <a:solidFill>
                  <a:srgbClr val="253545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200" b="0">
                <a:solidFill>
                  <a:srgbClr val="253545"/>
                </a:solidFill>
                <a:latin typeface="Aptos"/>
              </a:defRPr>
            </a:pPr>
            <a:r>
              <a:t>A scanner report is a starting point. Validate each alert and review whether it applies to the application.</a:t>
            </a:r>
          </a:p>
        </p:txBody>
      </p:sp>
      <p:pic>
        <p:nvPicPr>
          <p:cNvPr id="8" name="Picture 7" descr="51696cd4-1ae7-43af-a0fb-74dceb9f28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1215" y="1097280"/>
            <a:ext cx="1770368" cy="20116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601215" y="1097280"/>
            <a:ext cx="1770368" cy="2011680"/>
          </a:xfrm>
          <a:prstGeom prst="rect">
            <a:avLst/>
          </a:prstGeom>
          <a:noFill/>
          <a:ln w="10160"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3136392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>
                <a:solidFill>
                  <a:srgbClr val="526575"/>
                </a:solidFill>
                <a:latin typeface="Aptos"/>
              </a:defRPr>
            </a:pPr>
            <a:r>
              <a:t>Terminal: ZAP package installation</a:t>
            </a:r>
          </a:p>
        </p:txBody>
      </p:sp>
      <p:pic>
        <p:nvPicPr>
          <p:cNvPr id="11" name="Picture 10" descr="e105c823-e2d6-4a2a-85de-bcdb6c5d233f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3118" y="1097280"/>
            <a:ext cx="2659002" cy="20116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203118" y="1097280"/>
            <a:ext cx="2659002" cy="2011680"/>
          </a:xfrm>
          <a:prstGeom prst="rect">
            <a:avLst/>
          </a:prstGeom>
          <a:noFill/>
          <a:ln w="10160"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3136392"/>
            <a:ext cx="4069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>
                <a:solidFill>
                  <a:srgbClr val="526575"/>
                </a:solidFill>
                <a:latin typeface="Aptos"/>
              </a:defRPr>
            </a:pPr>
            <a:r>
              <a:t>ZAP main interface</a:t>
            </a:r>
          </a:p>
        </p:txBody>
      </p:sp>
      <p:pic>
        <p:nvPicPr>
          <p:cNvPr id="14" name="Picture 13" descr="03ebb4d5-dc35-4e5b-8142-48b5b8727ce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3678" y="3520440"/>
            <a:ext cx="3445443" cy="201168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763678" y="3520440"/>
            <a:ext cx="3445443" cy="2011680"/>
          </a:xfrm>
          <a:prstGeom prst="rect">
            <a:avLst/>
          </a:prstGeom>
          <a:noFill/>
          <a:ln w="10160"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5559552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>
                <a:solidFill>
                  <a:srgbClr val="526575"/>
                </a:solidFill>
                <a:latin typeface="Aptos"/>
              </a:defRPr>
            </a:pPr>
            <a:r>
              <a:t>Generated report cover</a:t>
            </a:r>
          </a:p>
        </p:txBody>
      </p:sp>
      <p:pic>
        <p:nvPicPr>
          <p:cNvPr id="17" name="Picture 16" descr="3e90f12f-a58c-480b-bdf6-3e883a23d68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449" y="3520440"/>
            <a:ext cx="2302340" cy="201168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8381449" y="3520440"/>
            <a:ext cx="2302340" cy="2011680"/>
          </a:xfrm>
          <a:prstGeom prst="rect">
            <a:avLst/>
          </a:prstGeom>
          <a:noFill/>
          <a:ln w="10160"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79" y="5559552"/>
            <a:ext cx="4069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>
                <a:solidFill>
                  <a:srgbClr val="526575"/>
                </a:solidFill>
                <a:latin typeface="Aptos"/>
              </a:defRPr>
            </a:pPr>
            <a:r>
              <a:t>Generate Report settings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64008"/>
          </a:xfrm>
          <a:prstGeom prst="rect">
            <a:avLst/>
          </a:prstGeom>
          <a:solidFill>
            <a:srgbClr val="91C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3456"/>
                </a:solidFill>
                <a:latin typeface="Aptos Display"/>
              </a:defRPr>
            </a:pPr>
            <a:r>
              <a:t>ZAP Results — Risk, Confidence &amp; Alert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9875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6575"/>
                </a:solidFill>
                <a:latin typeface="Aptos"/>
              </a:defRPr>
            </a:pPr>
            <a:r>
              <a:t>WEEK 6 VAPT PRACTICAL  • 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6575"/>
                </a:solidFill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3108960" cy="4526280"/>
          </a:xfrm>
          <a:prstGeom prst="rect">
            <a:avLst/>
          </a:prstGeom>
          <a:solidFill>
            <a:srgbClr val="EFF6FA"/>
          </a:solidFill>
          <a:ln>
            <a:solidFill>
              <a:srgbClr val="D7E1E9"/>
            </a:solidFill>
          </a:ln>
        </p:spPr>
        <p:txBody>
          <a:bodyPr wrap="square" lIns="109728" rIns="109728" tIns="109728" bIns="109728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53545"/>
                </a:solidFill>
                <a:latin typeface="Aptos"/>
              </a:defRPr>
            </a:pPr>
            <a:r>
              <a:t>Summary visible in the report</a:t>
            </a:r>
          </a:p>
          <a:p>
            <a:pPr>
              <a:spcAft>
                <a:spcPts val="500"/>
              </a:spcAft>
              <a:defRPr sz="1300" b="0">
                <a:solidFill>
                  <a:srgbClr val="253545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300" b="0">
                <a:solidFill>
                  <a:srgbClr val="253545"/>
                </a:solidFill>
                <a:latin typeface="Aptos"/>
              </a:defRPr>
            </a:pPr>
            <a:r>
              <a:t>High: 0</a:t>
            </a:r>
          </a:p>
          <a:p>
            <a:pPr>
              <a:spcAft>
                <a:spcPts val="500"/>
              </a:spcAft>
              <a:defRPr sz="1300" b="0">
                <a:solidFill>
                  <a:srgbClr val="253545"/>
                </a:solidFill>
                <a:latin typeface="Aptos"/>
              </a:defRPr>
            </a:pPr>
            <a:r>
              <a:t>Medium: 2</a:t>
            </a:r>
          </a:p>
          <a:p>
            <a:pPr>
              <a:spcAft>
                <a:spcPts val="500"/>
              </a:spcAft>
              <a:defRPr sz="1300" b="0">
                <a:solidFill>
                  <a:srgbClr val="253545"/>
                </a:solidFill>
                <a:latin typeface="Aptos"/>
              </a:defRPr>
            </a:pPr>
            <a:r>
              <a:t>Low: 5</a:t>
            </a:r>
          </a:p>
          <a:p>
            <a:pPr>
              <a:spcAft>
                <a:spcPts val="500"/>
              </a:spcAft>
              <a:defRPr sz="1300" b="0">
                <a:solidFill>
                  <a:srgbClr val="253545"/>
                </a:solidFill>
                <a:latin typeface="Aptos"/>
              </a:defRPr>
            </a:pPr>
            <a:r>
              <a:t>Informational: 3</a:t>
            </a:r>
          </a:p>
          <a:p>
            <a:pPr>
              <a:spcAft>
                <a:spcPts val="500"/>
              </a:spcAft>
              <a:defRPr sz="1300" b="0">
                <a:solidFill>
                  <a:srgbClr val="253545"/>
                </a:solidFill>
                <a:latin typeface="Aptos"/>
              </a:defRPr>
            </a:pPr>
            <a:r>
              <a:t>Total alert records: 10</a:t>
            </a:r>
          </a:p>
          <a:p>
            <a:pPr>
              <a:spcAft>
                <a:spcPts val="500"/>
              </a:spcAft>
              <a:defRPr sz="1300" b="0">
                <a:solidFill>
                  <a:srgbClr val="253545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300" b="0">
                <a:solidFill>
                  <a:srgbClr val="253545"/>
                </a:solidFill>
                <a:latin typeface="Aptos"/>
              </a:defRPr>
            </a:pPr>
            <a:r>
              <a:t>Confidence: 4 High, 6 Medium.</a:t>
            </a:r>
          </a:p>
          <a:p>
            <a:pPr>
              <a:spcAft>
                <a:spcPts val="500"/>
              </a:spcAft>
              <a:defRPr sz="1300" b="0">
                <a:solidFill>
                  <a:srgbClr val="253545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300" b="0">
                <a:solidFill>
                  <a:srgbClr val="253545"/>
                </a:solidFill>
                <a:latin typeface="Aptos"/>
              </a:defRPr>
            </a:pPr>
            <a:r>
              <a:t>Risk and confidence are different. Occurrence counts may repeat across multiple responses and do not equal unique vulnerabilities.</a:t>
            </a:r>
          </a:p>
        </p:txBody>
      </p:sp>
      <p:pic>
        <p:nvPicPr>
          <p:cNvPr id="8" name="Picture 7" descr="b380efea-e494-42df-a512-163875b593b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518243"/>
            <a:ext cx="3703320" cy="363863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840480" y="1518243"/>
            <a:ext cx="3703320" cy="3638633"/>
          </a:xfrm>
          <a:prstGeom prst="rect">
            <a:avLst/>
          </a:prstGeom>
          <a:noFill/>
          <a:ln w="10160"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5623560"/>
            <a:ext cx="3703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>
                <a:solidFill>
                  <a:srgbClr val="526575"/>
                </a:solidFill>
                <a:latin typeface="Aptos"/>
              </a:defRPr>
            </a:pPr>
            <a:r>
              <a:t>Risk/confidence summary</a:t>
            </a:r>
          </a:p>
        </p:txBody>
      </p:sp>
      <p:pic>
        <p:nvPicPr>
          <p:cNvPr id="11" name="Picture 10" descr="a662cbeb-c0cd-4144-88da-421a356afab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5134" y="1097280"/>
            <a:ext cx="2437850" cy="21031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405134" y="1097280"/>
            <a:ext cx="2437850" cy="2103120"/>
          </a:xfrm>
          <a:prstGeom prst="rect">
            <a:avLst/>
          </a:prstGeom>
          <a:noFill/>
          <a:ln w="10160"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79" y="3246120"/>
            <a:ext cx="37947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>
                <a:solidFill>
                  <a:srgbClr val="526575"/>
                </a:solidFill>
                <a:latin typeface="Aptos"/>
              </a:defRPr>
            </a:pPr>
            <a:r>
              <a:t>Alert details / references</a:t>
            </a:r>
          </a:p>
        </p:txBody>
      </p:sp>
      <p:pic>
        <p:nvPicPr>
          <p:cNvPr id="14" name="Picture 13" descr="e26cb79a-335a-4e43-ad7b-86d6d731f7c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6173" y="3611880"/>
            <a:ext cx="2295772" cy="21031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8476173" y="3611880"/>
            <a:ext cx="2295772" cy="2103120"/>
          </a:xfrm>
          <a:prstGeom prst="rect">
            <a:avLst/>
          </a:prstGeom>
          <a:noFill/>
          <a:ln w="10160"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5760720"/>
            <a:ext cx="37947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>
                <a:solidFill>
                  <a:srgbClr val="526575"/>
                </a:solidFill>
                <a:latin typeface="Aptos"/>
              </a:defRPr>
            </a:pPr>
            <a:r>
              <a:t>Alert-type occurrence counts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64008"/>
          </a:xfrm>
          <a:prstGeom prst="rect">
            <a:avLst/>
          </a:prstGeom>
          <a:solidFill>
            <a:srgbClr val="91C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3456"/>
                </a:solidFill>
                <a:latin typeface="Aptos Display"/>
              </a:defRPr>
            </a:pPr>
            <a:r>
              <a:t>Remediation Plan &amp; Retesting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9875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6575"/>
                </a:solidFill>
                <a:latin typeface="Aptos"/>
              </a:defRPr>
            </a:pPr>
            <a:r>
              <a:t>WEEK 6 VAPT PRACTICAL  •  REMEDIATION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6575"/>
                </a:solidFill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51560"/>
            <a:ext cx="5532120" cy="5166360"/>
          </a:xfrm>
          <a:prstGeom prst="rect">
            <a:avLst/>
          </a:prstGeom>
          <a:solidFill>
            <a:srgbClr val="EFF6FA"/>
          </a:solidFill>
          <a:ln>
            <a:solidFill>
              <a:srgbClr val="D7E1E9"/>
            </a:solidFill>
          </a:ln>
        </p:spPr>
        <p:txBody>
          <a:bodyPr wrap="square" lIns="164592" rIns="109728" tIns="109728" bIns="73152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53545"/>
                </a:solidFill>
                <a:latin typeface="Aptos"/>
              </a:defRPr>
            </a:pPr>
            <a:r>
              <a:t>• SQL Injection → use parameterized queries and least-privilege DB access.</a:t>
            </a:r>
          </a:p>
          <a:p>
            <a:pPr>
              <a:spcAft>
                <a:spcPts val="800"/>
              </a:spcAft>
              <a:defRPr sz="1200">
                <a:solidFill>
                  <a:srgbClr val="253545"/>
                </a:solidFill>
                <a:latin typeface="Aptos"/>
              </a:defRPr>
            </a:pPr>
            <a:r>
              <a:t>• XSS → context-aware output encoding, safe DOM APIs, tested sanitizer for rich text.</a:t>
            </a:r>
          </a:p>
          <a:p>
            <a:pPr>
              <a:spcAft>
                <a:spcPts val="800"/>
              </a:spcAft>
              <a:defRPr sz="1200">
                <a:solidFill>
                  <a:srgbClr val="253545"/>
                </a:solidFill>
                <a:latin typeface="Aptos"/>
              </a:defRPr>
            </a:pPr>
            <a:r>
              <a:t>• CSP missing → design and test a policy; enforce after observing report-only results.</a:t>
            </a:r>
          </a:p>
          <a:p>
            <a:pPr>
              <a:spcAft>
                <a:spcPts val="800"/>
              </a:spcAft>
              <a:defRPr sz="1200">
                <a:solidFill>
                  <a:srgbClr val="253545"/>
                </a:solidFill>
                <a:latin typeface="Aptos"/>
              </a:defRPr>
            </a:pPr>
            <a:r>
              <a:t>• Anti-clickjacking header missing → CSP frame-ancestors and/or X-Frame-Options.</a:t>
            </a:r>
          </a:p>
          <a:p>
            <a:pPr>
              <a:spcAft>
                <a:spcPts val="800"/>
              </a:spcAft>
              <a:defRPr sz="1200">
                <a:solidFill>
                  <a:srgbClr val="253545"/>
                </a:solidFill>
                <a:latin typeface="Aptos"/>
              </a:defRPr>
            </a:pPr>
            <a:r>
              <a:t>• Cookie SameSite missing → choose suitable SameSite; review Secure and HttpOnly.</a:t>
            </a:r>
          </a:p>
          <a:p>
            <a:pPr>
              <a:spcAft>
                <a:spcPts val="800"/>
              </a:spcAft>
              <a:defRPr sz="1200">
                <a:solidFill>
                  <a:srgbClr val="253545"/>
                </a:solidFill>
                <a:latin typeface="Aptos"/>
              </a:defRPr>
            </a:pPr>
            <a:r>
              <a:t>• Server/version disclosure → minimize banners and keep software patched.</a:t>
            </a:r>
          </a:p>
          <a:p>
            <a:pPr>
              <a:spcAft>
                <a:spcPts val="800"/>
              </a:spcAft>
              <a:defRPr sz="1200">
                <a:solidFill>
                  <a:srgbClr val="253545"/>
                </a:solidFill>
                <a:latin typeface="Aptos"/>
              </a:defRPr>
            </a:pPr>
            <a:r>
              <a:t>• X-Content-Type-Options missing → set nosniff and correct MIME types.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051560"/>
            <a:ext cx="5166360" cy="502920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23456"/>
                </a:solidFill>
                <a:latin typeface="Aptos"/>
              </a:defRPr>
            </a:pPr>
            <a:r>
              <a:t>Retest after fixes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5166360" cy="3383280"/>
          </a:xfrm>
          <a:prstGeom prst="rect">
            <a:avLst/>
          </a:prstGeom>
          <a:noFill/>
        </p:spPr>
        <p:txBody>
          <a:bodyPr wrap="square" lIns="164592" rIns="109728" tIns="109728" bIns="73152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53545"/>
                </a:solidFill>
                <a:latin typeface="Aptos"/>
              </a:defRPr>
            </a:pPr>
            <a:r>
              <a:t>• Repeat normal and invalid-input tests in the local lab.</a:t>
            </a:r>
          </a:p>
          <a:p>
            <a:pPr>
              <a:spcAft>
                <a:spcPts val="800"/>
              </a:spcAft>
              <a:defRPr sz="1200">
                <a:solidFill>
                  <a:srgbClr val="253545"/>
                </a:solidFill>
                <a:latin typeface="Aptos"/>
              </a:defRPr>
            </a:pPr>
            <a:r>
              <a:t>• Confirm SQL input is treated as data, not query syntax.</a:t>
            </a:r>
          </a:p>
          <a:p>
            <a:pPr>
              <a:spcAft>
                <a:spcPts val="800"/>
              </a:spcAft>
              <a:defRPr sz="1200">
                <a:solidFill>
                  <a:srgbClr val="253545"/>
                </a:solidFill>
                <a:latin typeface="Aptos"/>
              </a:defRPr>
            </a:pPr>
            <a:r>
              <a:t>• Confirm XSS test strings render as text and do not execute.</a:t>
            </a:r>
          </a:p>
          <a:p>
            <a:pPr>
              <a:spcAft>
                <a:spcPts val="800"/>
              </a:spcAft>
              <a:defRPr sz="1200">
                <a:solidFill>
                  <a:srgbClr val="253545"/>
                </a:solidFill>
                <a:latin typeface="Aptos"/>
              </a:defRPr>
            </a:pPr>
            <a:r>
              <a:t>• Review response headers and cookie attributes in Burp.</a:t>
            </a:r>
          </a:p>
          <a:p>
            <a:pPr>
              <a:spcAft>
                <a:spcPts val="800"/>
              </a:spcAft>
              <a:defRPr sz="1200">
                <a:solidFill>
                  <a:srgbClr val="253545"/>
                </a:solidFill>
                <a:latin typeface="Aptos"/>
              </a:defRPr>
            </a:pPr>
            <a:r>
              <a:t>• Rerun ZAP and manually validate changed/new alerts.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57800"/>
            <a:ext cx="5166360" cy="777240"/>
          </a:xfrm>
          <a:prstGeom prst="rect">
            <a:avLst/>
          </a:prstGeom>
          <a:solidFill>
            <a:srgbClr val="EFF6FA"/>
          </a:solidFill>
          <a:ln>
            <a:solidFill>
              <a:srgbClr val="D7E1E9"/>
            </a:solidFill>
          </a:ln>
        </p:spPr>
        <p:txBody>
          <a:bodyPr wrap="square" lIns="109728" rIns="109728" tIns="109728" bIns="109728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B13838"/>
                </a:solidFill>
                <a:latin typeface="Aptos"/>
              </a:defRPr>
            </a:pPr>
            <a:r>
              <a:t>Do not report scanner observations as confirmed vulnerabilities until manually validated.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4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10881360" cy="594360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FFFFFF"/>
                </a:solidFill>
                <a:latin typeface="Aptos"/>
              </a:defRPr>
            </a:pPr>
            <a:r>
              <a:t>Conclusion &amp; Key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6583680" cy="4251960"/>
          </a:xfrm>
          <a:prstGeom prst="rect">
            <a:avLst/>
          </a:prstGeom>
          <a:solidFill>
            <a:srgbClr val="EBF3F8"/>
          </a:solidFill>
          <a:ln>
            <a:solidFill>
              <a:srgbClr val="D7E1E9"/>
            </a:solidFill>
          </a:ln>
        </p:spPr>
        <p:txBody>
          <a:bodyPr wrap="square" lIns="164592" rIns="109728" tIns="109728" bIns="73152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53545"/>
                </a:solidFill>
                <a:latin typeface="Aptos"/>
              </a:defRPr>
            </a:pPr>
            <a:r>
              <a:t>• Practiced web security testing in intentionally vulnerable DVWA.</a:t>
            </a:r>
          </a:p>
          <a:p>
            <a:pPr>
              <a:spcAft>
                <a:spcPts val="800"/>
              </a:spcAft>
              <a:defRPr sz="1500">
                <a:solidFill>
                  <a:srgbClr val="253545"/>
                </a:solidFill>
                <a:latin typeface="Aptos"/>
              </a:defRPr>
            </a:pPr>
            <a:r>
              <a:t>• Observed SQLi behavior and learned why parameterized queries matter.</a:t>
            </a:r>
          </a:p>
          <a:p>
            <a:pPr>
              <a:spcAft>
                <a:spcPts val="800"/>
              </a:spcAft>
              <a:defRPr sz="1500">
                <a:solidFill>
                  <a:srgbClr val="253545"/>
                </a:solidFill>
                <a:latin typeface="Aptos"/>
              </a:defRPr>
            </a:pPr>
            <a:r>
              <a:t>• Compared reflected and stored XSS behavior in a safe lab.</a:t>
            </a:r>
          </a:p>
          <a:p>
            <a:pPr>
              <a:spcAft>
                <a:spcPts val="800"/>
              </a:spcAft>
              <a:defRPr sz="1500">
                <a:solidFill>
                  <a:srgbClr val="253545"/>
                </a:solidFill>
                <a:latin typeface="Aptos"/>
              </a:defRPr>
            </a:pPr>
            <a:r>
              <a:t>• Used Burp to inspect HTTP traffic and ZAP to summarize potential issues.</a:t>
            </a:r>
          </a:p>
          <a:p>
            <a:pPr>
              <a:spcAft>
                <a:spcPts val="800"/>
              </a:spcAft>
              <a:defRPr sz="1500">
                <a:solidFill>
                  <a:srgbClr val="253545"/>
                </a:solidFill>
                <a:latin typeface="Aptos"/>
              </a:defRPr>
            </a:pPr>
            <a:r>
              <a:t>• Learned to separate risk, confidence, alert occurrences and confirmed impact.</a:t>
            </a:r>
          </a:p>
          <a:p>
            <a:pPr>
              <a:spcAft>
                <a:spcPts val="800"/>
              </a:spcAft>
              <a:defRPr sz="1500">
                <a:solidFill>
                  <a:srgbClr val="253545"/>
                </a:solidFill>
                <a:latin typeface="Aptos"/>
              </a:defRPr>
            </a:pPr>
            <a:r>
              <a:t>• Documented remediation and retesting steps.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1417320"/>
            <a:ext cx="3794760" cy="2148840"/>
          </a:xfrm>
          <a:prstGeom prst="rect">
            <a:avLst/>
          </a:prstGeom>
          <a:solidFill>
            <a:srgbClr val="1D4468"/>
          </a:solidFill>
          <a:ln>
            <a:solidFill>
              <a:srgbClr val="D7E1E9"/>
            </a:solidFill>
          </a:ln>
        </p:spPr>
        <p:txBody>
          <a:bodyPr wrap="square" lIns="109728" rIns="109728" tIns="109728" bIns="10972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Evidence included</a:t>
            </a:r>
          </a:p>
          <a:p>
            <a:pPr>
              <a:spcAft>
                <a:spcPts val="5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19 original screenshots</a:t>
            </a:r>
          </a:p>
          <a:p>
            <a:pPr>
              <a:spcAft>
                <a:spcPts val="500"/>
              </a:spcAft>
              <a:defRPr sz="1400" b="0">
                <a:solidFill>
                  <a:srgbClr val="FFFFFF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Target shown: 127.0.0.1:4280</a:t>
            </a:r>
          </a:p>
          <a:p>
            <a:pPr>
              <a:spcAft>
                <a:spcPts val="5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ZAP version shown: 2.17.0</a:t>
            </a:r>
          </a:p>
          <a:p>
            <a:pPr>
              <a:spcAft>
                <a:spcPts val="5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Report date shown: 14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3840480"/>
            <a:ext cx="3794760" cy="1325880"/>
          </a:xfrm>
          <a:prstGeom prst="rect">
            <a:avLst/>
          </a:prstGeom>
          <a:solidFill>
            <a:srgbClr val="1D4468"/>
          </a:solidFill>
          <a:ln>
            <a:solidFill>
              <a:srgbClr val="D7E1E9"/>
            </a:solidFill>
          </a:ln>
        </p:spPr>
        <p:txBody>
          <a:bodyPr wrap="square" lIns="109728" rIns="109728" tIns="109728" bIns="10972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Final note</a:t>
            </a:r>
          </a:p>
          <a:p>
            <a:pPr>
              <a:spcAft>
                <a:spcPts val="5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This is a screenshot-based training report. It does not prove a production system was tested or that findings were retested after remediation.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89320"/>
            <a:ext cx="10698480" cy="320040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91C334"/>
                </a:solidFill>
                <a:latin typeface="Aptos"/>
              </a:defRPr>
            </a:pPr>
            <a:r>
              <a:t>THANK YOU  •  AUTHORIZED LAB TESTING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