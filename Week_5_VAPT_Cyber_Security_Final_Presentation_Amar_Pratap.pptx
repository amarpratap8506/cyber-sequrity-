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VAPT PRACTICAL</a:t>
            </a:r>
          </a:p>
          <a:p>
            <a:pPr>
              <a:defRPr sz="2400">
                <a:solidFill>
                  <a:srgbClr val="75DBE1"/>
                </a:solidFill>
              </a:defRPr>
            </a:pPr>
            <a:r>
              <a:t>Week 5 –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9601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1E8ED"/>
                </a:solidFill>
              </a:defRPr>
            </a:pPr>
            <a:r>
              <a:t>Nmap • Nikto • Burp Suite</a:t>
            </a:r>
          </a:p>
          <a:p>
            <a:pPr>
              <a:spcAft>
                <a:spcPts val="800"/>
              </a:spcAft>
              <a:defRPr sz="1600">
                <a:solidFill>
                  <a:srgbClr val="E1E8ED"/>
                </a:solidFill>
              </a:defRPr>
            </a:pPr>
            <a:r>
              <a:t>Submitted by: Amar Pratap</a:t>
            </a:r>
          </a:p>
          <a:p>
            <a:pPr>
              <a:spcAft>
                <a:spcPts val="800"/>
              </a:spcAft>
              <a:defRPr sz="1600">
                <a:solidFill>
                  <a:srgbClr val="E1E8ED"/>
                </a:solidFill>
              </a:defRPr>
            </a:pPr>
            <a:r>
              <a:t>DG Interns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521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0CA"/>
                </a:solidFill>
              </a:defRPr>
            </a:pPr>
            <a:r>
              <a:t>Authorized lab target: testphp.vulnweb.com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1. Week 5 – VAPT Practical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Hands-on evidence from the authorized internship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A333D"/>
                </a:solidFill>
              </a:defRPr>
            </a:pPr>
            <a:r>
              <a:t>• Reconnaissance and service discovery with Nmap.</a:t>
            </a:r>
          </a:p>
          <a:p>
            <a:pPr>
              <a:spcAft>
                <a:spcPts val="800"/>
              </a:spcAft>
              <a:defRPr sz="1800">
                <a:solidFill>
                  <a:srgbClr val="2A333D"/>
                </a:solidFill>
              </a:defRPr>
            </a:pPr>
            <a:r>
              <a:t>• Web-server assessment attempt with Nikto.</a:t>
            </a:r>
          </a:p>
          <a:p>
            <a:pPr>
              <a:spcAft>
                <a:spcPts val="800"/>
              </a:spcAft>
              <a:defRPr sz="1800">
                <a:solidFill>
                  <a:srgbClr val="2A333D"/>
                </a:solidFill>
              </a:defRPr>
            </a:pPr>
            <a:r>
              <a:t>• HTTP request interception and inspection with Burp Suite.</a:t>
            </a:r>
          </a:p>
          <a:p>
            <a:pPr>
              <a:spcAft>
                <a:spcPts val="800"/>
              </a:spcAft>
              <a:defRPr sz="1800">
                <a:solidFill>
                  <a:srgbClr val="2A333D"/>
                </a:solidFill>
              </a:defRPr>
            </a:pPr>
            <a:r>
              <a:t>• Evidence-based interpretation of tool results.</a:t>
            </a:r>
          </a:p>
          <a:p>
            <a:pPr>
              <a:spcAft>
                <a:spcPts val="800"/>
              </a:spcAft>
              <a:defRPr sz="1800">
                <a:solidFill>
                  <a:srgbClr val="2A333D"/>
                </a:solidFill>
              </a:defRPr>
            </a:pPr>
            <a:r>
              <a:t>• Real screenshots from the Kali Linux / Burp practical are included.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25880"/>
            <a:ext cx="3886200" cy="1024128"/>
          </a:xfrm>
          <a:prstGeom prst="roundRect">
            <a:avLst/>
          </a:prstGeom>
          <a:solidFill>
            <a:srgbClr val="EDF6F8"/>
          </a:solidFill>
          <a:ln>
            <a:solidFill>
              <a:srgbClr val="B4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490472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91A0"/>
                </a:solidFill>
              </a:defRPr>
            </a:pPr>
            <a:r>
              <a:t>Nmap</a:t>
            </a:r>
          </a:p>
          <a:p>
            <a:pPr>
              <a:defRPr sz="1100">
                <a:solidFill>
                  <a:srgbClr val="5F6973"/>
                </a:solidFill>
              </a:defRPr>
            </a:pPr>
            <a:r>
              <a:t>Host, port &amp; service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697480"/>
            <a:ext cx="3886200" cy="1024128"/>
          </a:xfrm>
          <a:prstGeom prst="roundRect">
            <a:avLst/>
          </a:prstGeom>
          <a:solidFill>
            <a:srgbClr val="EDF6F8"/>
          </a:solidFill>
          <a:ln>
            <a:solidFill>
              <a:srgbClr val="B4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862072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91A0"/>
                </a:solidFill>
              </a:defRPr>
            </a:pPr>
            <a:r>
              <a:t>Nikto</a:t>
            </a:r>
          </a:p>
          <a:p>
            <a:pPr>
              <a:defRPr sz="1100">
                <a:solidFill>
                  <a:srgbClr val="5F6973"/>
                </a:solidFill>
              </a:defRPr>
            </a:pPr>
            <a:r>
              <a:t>Web-server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069080"/>
            <a:ext cx="3886200" cy="1024128"/>
          </a:xfrm>
          <a:prstGeom prst="roundRect">
            <a:avLst/>
          </a:prstGeom>
          <a:solidFill>
            <a:srgbClr val="EDF6F8"/>
          </a:solidFill>
          <a:ln>
            <a:solidFill>
              <a:srgbClr val="B4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4233672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91A0"/>
                </a:solidFill>
              </a:defRPr>
            </a:pPr>
            <a:r>
              <a:t>Burp Suite</a:t>
            </a:r>
          </a:p>
          <a:p>
            <a:pPr>
              <a:defRPr sz="1100">
                <a:solidFill>
                  <a:srgbClr val="5F6973"/>
                </a:solidFill>
              </a:defRPr>
            </a:pPr>
            <a:r>
              <a:t>HTTP interception &amp;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2. Nmap – Version &amp; SYN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Real terminal evidence</a:t>
            </a:r>
          </a:p>
        </p:txBody>
      </p:sp>
      <p:pic>
        <p:nvPicPr>
          <p:cNvPr id="4" name="Picture 3" descr="da2895e2-511d-4e3c-a04b-0a3f59a9983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440680" cy="6757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926080"/>
            <a:ext cx="5440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Nmap 7.99 version verification</a:t>
            </a:r>
          </a:p>
        </p:txBody>
      </p:sp>
      <p:pic>
        <p:nvPicPr>
          <p:cNvPr id="6" name="Picture 5" descr="c6ff3c5f-f044-4c5f-897e-a8f1aa16d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70432"/>
            <a:ext cx="5440680" cy="1146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3291840"/>
            <a:ext cx="5440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nmap -sS testphp.vulnweb.com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33D"/>
                </a:solidFill>
              </a:defRPr>
            </a:pPr>
            <a:r>
              <a:t>• Nmap 7.99 was installed and working in Kali Linux.</a:t>
            </a:r>
          </a:p>
          <a:p>
            <a:pPr>
              <a:spcAft>
                <a:spcPts val="800"/>
              </a:spcAft>
              <a:defRPr sz="1500">
                <a:solidFill>
                  <a:srgbClr val="2A333D"/>
                </a:solidFill>
              </a:defRPr>
            </a:pPr>
            <a:r>
              <a:t>• The host was detected as up.</a:t>
            </a:r>
          </a:p>
          <a:p>
            <a:pPr>
              <a:spcAft>
                <a:spcPts val="800"/>
              </a:spcAft>
              <a:defRPr sz="1500">
                <a:solidFill>
                  <a:srgbClr val="2A333D"/>
                </a:solidFill>
              </a:defRPr>
            </a:pPr>
            <a:r>
              <a:t>• 53/tcp was reported open; many other TCP ports showed no response.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3. Nmap – Service &amp; Aggressive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Service identification and deeper enumeration</a:t>
            </a:r>
          </a:p>
        </p:txBody>
      </p:sp>
      <p:pic>
        <p:nvPicPr>
          <p:cNvPr id="4" name="Picture 3" descr="09bb29cb-9205-4915-8291-ab920213b7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06424"/>
            <a:ext cx="5486400" cy="12875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593591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nmap -sV – service/version detection</a:t>
            </a:r>
          </a:p>
        </p:txBody>
      </p:sp>
      <p:pic>
        <p:nvPicPr>
          <p:cNvPr id="6" name="Picture 5" descr="00c4ea8b-8330-40be-84ce-f8cde86377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06424"/>
            <a:ext cx="5486400" cy="18696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4050791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nmap -A – aggressive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53/tcp was identified as domain service; version shown as dnsmasq 2.80.</a:t>
            </a:r>
          </a:p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OS detection was inconclusive because the scan lacked the required open/closed TCP-port combination.</a:t>
            </a:r>
          </a:p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No OS match was claimed from the incomplete fingerprint.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4. Nikto – Web Assessment Attempt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Real terminal evidence and verified connectivity limitation</a:t>
            </a:r>
          </a:p>
        </p:txBody>
      </p:sp>
      <p:pic>
        <p:nvPicPr>
          <p:cNvPr id="4" name="Picture 3" descr="8e61a8d5-7069-4d9a-b459-3c84240e5ac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5212080" cy="8042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697480"/>
            <a:ext cx="52120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Nikto 2.6.1 version verification</a:t>
            </a:r>
          </a:p>
        </p:txBody>
      </p:sp>
      <p:pic>
        <p:nvPicPr>
          <p:cNvPr id="6" name="Picture 5" descr="9d007e3a-a4fe-4f54-8dd9-06f76b36dfc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78992"/>
            <a:ext cx="5486400" cy="1013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60" y="4343400"/>
            <a:ext cx="5486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Nikto connection failure + Nmap/curl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Nikto 2.6.1 was installed successfully.</a:t>
            </a:r>
          </a:p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Nikto could not connect to testphp.vulnweb.com:80.</a:t>
            </a:r>
          </a:p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Nmap reported 80/tcp and 443/tcp as filtered.</a:t>
            </a:r>
          </a:p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curl also failed to connect to port 80.</a:t>
            </a:r>
          </a:p>
          <a:p>
            <a:pPr>
              <a:spcAft>
                <a:spcPts val="800"/>
              </a:spcAft>
              <a:defRPr sz="1350">
                <a:solidFill>
                  <a:srgbClr val="2A333D"/>
                </a:solidFill>
              </a:defRPr>
            </a:pPr>
            <a:r>
              <a:t>• Therefore, no web vulnerability is claimed from the incomplete Nikto run.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5. Burp Suite – HTTP Interception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Captured traffic from the authorized lab target</a:t>
            </a:r>
          </a:p>
        </p:txBody>
      </p:sp>
      <p:pic>
        <p:nvPicPr>
          <p:cNvPr id="4" name="Picture 3" descr="717da19c-264d-4959-8371-948bf623ec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3272"/>
            <a:ext cx="11247120" cy="3407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97880"/>
            <a:ext cx="1124712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Burp Proxy – Intercept ON and captured GET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6. Burp Suite – Request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Inspecting request path, headers and query parameters</a:t>
            </a:r>
          </a:p>
        </p:txBody>
      </p:sp>
      <p:pic>
        <p:nvPicPr>
          <p:cNvPr id="4" name="Picture 3" descr="d7866f06-2d5d-4e9f-b586-fbacce9684a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46" y="987552"/>
            <a:ext cx="913302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35040"/>
            <a:ext cx="11155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Captured artists.php request with query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7. Burp Suite – Additional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categories.php request captured successfully</a:t>
            </a:r>
          </a:p>
        </p:txBody>
      </p:sp>
      <p:pic>
        <p:nvPicPr>
          <p:cNvPr id="4" name="Picture 3" descr="5f0963dd-606a-4de7-ba9c-868c3db14a6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58" y="987552"/>
            <a:ext cx="935080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35040"/>
            <a:ext cx="111556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Captured categories.php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8. Burp Suite – HTTP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Reviewing multiple captured requests</a:t>
            </a:r>
          </a:p>
        </p:txBody>
      </p:sp>
      <p:pic>
        <p:nvPicPr>
          <p:cNvPr id="4" name="Picture 3" descr="db2324a8-db37-495c-aa5a-fba275d798a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47" y="987552"/>
            <a:ext cx="7311345" cy="3931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937760"/>
            <a:ext cx="1138428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F6973"/>
                </a:solidFill>
              </a:defRPr>
            </a:pPr>
            <a:r>
              <a:t>HTTP History showing repeated requests and captured PHP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33D"/>
                </a:solidFill>
              </a:defRPr>
            </a:pPr>
            <a:r>
              <a:t>• HTTP History consolidated the captured GET requests.</a:t>
            </a:r>
          </a:p>
          <a:p>
            <a:pPr>
              <a:spcAft>
                <a:spcPts val="800"/>
              </a:spcAft>
              <a:defRPr sz="1300">
                <a:solidFill>
                  <a:srgbClr val="2A333D"/>
                </a:solidFill>
              </a:defRPr>
            </a:pPr>
            <a:r>
              <a:t>• The listener was visible on port 8080 in the Burp session.</a:t>
            </a:r>
          </a:p>
          <a:p>
            <a:pPr>
              <a:spcAft>
                <a:spcPts val="800"/>
              </a:spcAft>
              <a:defRPr sz="1300">
                <a:solidFill>
                  <a:srgbClr val="2A333D"/>
                </a:solidFill>
              </a:defRPr>
            </a:pPr>
            <a:r>
              <a:t>• Captured traffic included the root path and PHP endpoints such as artists.php and categories.php.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9. Findings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What the evidence actually demonstrates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10972800" cy="1188720"/>
          </a:xfrm>
          <a:prstGeom prst="roundRect">
            <a:avLst/>
          </a:prstGeom>
          <a:solidFill>
            <a:srgbClr val="EDF6F8"/>
          </a:solidFill>
          <a:ln>
            <a:solidFill>
              <a:srgbClr val="BE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44168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91A0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98448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238"/>
                </a:solidFill>
              </a:defRPr>
            </a:pPr>
            <a:r>
              <a:t>Nmap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53/tcp open; dnsmasq 2.80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89888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33D"/>
                </a:solidFill>
              </a:defRPr>
            </a:pPr>
            <a:r>
              <a:t>Observed exposed service; not automatically a vulnerability.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10972800" cy="1188720"/>
          </a:xfrm>
          <a:prstGeom prst="roundRect">
            <a:avLst/>
          </a:prstGeom>
          <a:solidFill>
            <a:srgbClr val="EDF6F8"/>
          </a:solidFill>
          <a:ln>
            <a:solidFill>
              <a:srgbClr val="BE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91A0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07208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238"/>
                </a:solidFill>
              </a:defRPr>
            </a:pPr>
            <a:r>
              <a:t>Nikto / HTTP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80 &amp; 443 filtered; curl unable to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98648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33D"/>
                </a:solidFill>
              </a:defRPr>
            </a:pPr>
            <a:r>
              <a:t>Web assessment was limited by connectivity.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206240"/>
            <a:ext cx="10972800" cy="1188720"/>
          </a:xfrm>
          <a:prstGeom prst="roundRect">
            <a:avLst/>
          </a:prstGeom>
          <a:solidFill>
            <a:srgbClr val="EDF6F8"/>
          </a:solidFill>
          <a:ln>
            <a:solidFill>
              <a:srgbClr val="BE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61688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891A0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15968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238"/>
                </a:solidFill>
              </a:defRPr>
            </a:pPr>
            <a:r>
              <a:t>Burp Suite</a:t>
            </a:r>
          </a:p>
          <a:p>
            <a:pPr>
              <a:defRPr sz="1050">
                <a:solidFill>
                  <a:srgbClr val="5F6973"/>
                </a:solidFill>
              </a:defRPr>
            </a:pPr>
            <a:r>
              <a:t>GET requests, headers and parameters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07407"/>
            <a:ext cx="7406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A333D"/>
                </a:solidFill>
              </a:defRPr>
            </a:pPr>
            <a:r>
              <a:t>Successful HTTP interception and inspection.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A333D"/>
                </a:solidFill>
              </a:defRPr>
            </a:pPr>
            <a:r>
              <a:t>• No unsupported high-impact vulnerability is claimed.</a:t>
            </a:r>
          </a:p>
          <a:p>
            <a:pPr>
              <a:spcAft>
                <a:spcPts val="800"/>
              </a:spcAft>
              <a:defRPr sz="1200">
                <a:solidFill>
                  <a:srgbClr val="2A333D"/>
                </a:solidFill>
              </a:defRPr>
            </a:pPr>
            <a:r>
              <a:t>• All observations are based on the screenshots captured during the authorized practical.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2238"/>
                </a:solidFill>
              </a:defRPr>
            </a:pPr>
            <a:r>
              <a:t>10. Challenges, Learning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Week 5 practical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A333D"/>
                </a:solidFill>
              </a:defRPr>
            </a:pPr>
            <a:r>
              <a:t>• Challenge: the target web ports were filtered, so Nikto could not complete a web scan.</a:t>
            </a:r>
          </a:p>
          <a:p>
            <a:pPr>
              <a:spcAft>
                <a:spcPts val="800"/>
              </a:spcAft>
              <a:defRPr sz="1700">
                <a:solidFill>
                  <a:srgbClr val="2A333D"/>
                </a:solidFill>
              </a:defRPr>
            </a:pPr>
            <a:r>
              <a:t>• Solution: verified the condition independently with Nmap and curl.</a:t>
            </a:r>
          </a:p>
          <a:p>
            <a:pPr>
              <a:spcAft>
                <a:spcPts val="800"/>
              </a:spcAft>
              <a:defRPr sz="1700">
                <a:solidFill>
                  <a:srgbClr val="2A333D"/>
                </a:solidFill>
              </a:defRPr>
            </a:pPr>
            <a:r>
              <a:t>• Learning: VAPT results must be validated and interpreted before reporting a vulnerability.</a:t>
            </a:r>
          </a:p>
          <a:p>
            <a:pPr>
              <a:spcAft>
                <a:spcPts val="800"/>
              </a:spcAft>
              <a:defRPr sz="1700">
                <a:solidFill>
                  <a:srgbClr val="2A333D"/>
                </a:solidFill>
              </a:defRPr>
            </a:pPr>
            <a:r>
              <a:t>• Completed: Nmap version/SYN/service/aggressive scans, Nikto setup and troubleshooting, Burp interception and HTTP History.</a:t>
            </a:r>
          </a:p>
          <a:p>
            <a:pPr>
              <a:spcAft>
                <a:spcPts val="800"/>
              </a:spcAft>
              <a:defRPr sz="1700">
                <a:solidFill>
                  <a:srgbClr val="2A333D"/>
                </a:solidFill>
              </a:defRPr>
            </a:pPr>
            <a:r>
              <a:t>• Conclusion: the practical provided hands-on exposure to reconnaissance, web assessment and HTTP traffic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891A0"/>
                </a:solidFill>
              </a:defRPr>
            </a:pPr>
            <a:r>
              <a:t>Submitted by: Amar Pratap  |  DG Interns Hub  |  Cyber Security Internship – Week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0F5F8"/>
                </a:solidFill>
              </a:defRPr>
            </a:pPr>
            <a:r>
              <a:t>DG Interns Hub  |  Cyber Security Internship  |  Week 5 – VAPT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2238"/>
                </a:solidFill>
              </a:defRPr>
            </a:pPr>
            <a:r>
              <a:t>INDEX /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</a:defRPr>
            </a:pPr>
            <a:r>
              <a:t>Week 5 – Vulnerability Assessment &amp; Penetration Testing (VAPT)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53312"/>
            <a:ext cx="10927080" cy="356616"/>
          </a:xfrm>
          <a:prstGeom prst="roundRect">
            <a:avLst/>
          </a:prstGeom>
          <a:solidFill>
            <a:srgbClr val="EDF6F8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036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853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Overview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3853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Introduction, scope and practical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10512"/>
            <a:ext cx="10927080" cy="356616"/>
          </a:xfrm>
          <a:prstGeom prst="roundRect">
            <a:avLst/>
          </a:prstGeom>
          <a:solidFill>
            <a:srgbClr val="FAFCFD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608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25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Nmap – Version &amp; SYN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425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Nmap verification and host/port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267712"/>
            <a:ext cx="10927080" cy="356616"/>
          </a:xfrm>
          <a:prstGeom prst="roundRect">
            <a:avLst/>
          </a:prstGeom>
          <a:solidFill>
            <a:srgbClr val="EDF6F8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3180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2997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Nmap – Service &amp; Aggressive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997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Service/version detection and OS detection attempt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2724912"/>
            <a:ext cx="10927080" cy="356616"/>
          </a:xfrm>
          <a:prstGeom prst="roundRect">
            <a:avLst/>
          </a:prstGeom>
          <a:solidFill>
            <a:srgbClr val="FAFCFD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7752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7569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Nikto – Web Assessment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569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Nikto setup, connectivity checks and limitations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182112"/>
            <a:ext cx="10927080" cy="356616"/>
          </a:xfrm>
          <a:prstGeom prst="roundRect">
            <a:avLst/>
          </a:prstGeom>
          <a:solidFill>
            <a:srgbClr val="EDF6F8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2324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2141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Burp Suite – HTTP Interception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2141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Capturing HTTP requests through Proxy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639312"/>
            <a:ext cx="10927080" cy="356616"/>
          </a:xfrm>
          <a:prstGeom prst="roundRect">
            <a:avLst/>
          </a:prstGeom>
          <a:solidFill>
            <a:srgbClr val="FAFCFD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6896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671315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Burp Suite – Request Inspection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671315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Inspecting artists.php request and headers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096512"/>
            <a:ext cx="10927080" cy="356616"/>
          </a:xfrm>
          <a:prstGeom prst="roundRect">
            <a:avLst/>
          </a:prstGeom>
          <a:solidFill>
            <a:srgbClr val="EDF6F8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1468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1285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Burp Suite – Additional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1285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Inspecting categories.php request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4553712"/>
            <a:ext cx="10927080" cy="356616"/>
          </a:xfrm>
          <a:prstGeom prst="roundRect">
            <a:avLst/>
          </a:prstGeom>
          <a:solidFill>
            <a:srgbClr val="FAFCFD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6040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5857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Burp Suite – HTTP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5857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Reviewing captured requests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010912"/>
            <a:ext cx="10927080" cy="356616"/>
          </a:xfrm>
          <a:prstGeom prst="roundRect">
            <a:avLst/>
          </a:prstGeom>
          <a:solidFill>
            <a:srgbClr val="EDF6F8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0612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50429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Findings &amp; Interpretation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0429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Evidence-based observations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5468112"/>
            <a:ext cx="10927080" cy="356616"/>
          </a:xfrm>
          <a:prstGeom prst="roundRect">
            <a:avLst/>
          </a:prstGeom>
          <a:solidFill>
            <a:srgbClr val="FAFCFD"/>
          </a:solidFill>
          <a:ln>
            <a:solidFill>
              <a:srgbClr val="D2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518404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91A0"/>
                </a:solidFill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550011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D2238"/>
                </a:solidFill>
              </a:defRPr>
            </a:pPr>
            <a:r>
              <a:t>Challenges, Learning &amp; 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550011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6973"/>
                </a:solidFill>
              </a:defRPr>
            </a:pPr>
            <a:r>
              <a:t>What was learned and completed tasks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19963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891A0"/>
                </a:solidFill>
              </a:defRPr>
            </a:pPr>
            <a:r>
              <a:t>Submitted by: Amar Pratap  •  DG Interns Hub  •  Cyber Security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